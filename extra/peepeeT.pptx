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Times New Roman Bold" charset="1" panose="02020803070505020304"/>
      <p:regular r:id="rId26"/>
    </p:embeddedFont>
    <p:embeddedFont>
      <p:font typeface="Arial Bold" charset="1" panose="020B0704020202020204"/>
      <p:regular r:id="rId27"/>
    </p:embeddedFont>
    <p:embeddedFont>
      <p:font typeface="Calibri (MS) Bold" charset="1" panose="020F0702030404030204"/>
      <p:regular r:id="rId28"/>
    </p:embeddedFont>
    <p:embeddedFont>
      <p:font typeface="Times New Roman" charset="1" panose="02020603050405020304"/>
      <p:regular r:id="rId29"/>
    </p:embeddedFont>
    <p:embeddedFont>
      <p:font typeface="Calibri (MS)" charset="1" panose="020F0502020204030204"/>
      <p:regular r:id="rId30"/>
    </p:embeddedFont>
    <p:embeddedFont>
      <p:font typeface="Arimo" charset="1" panose="020B0604020202020204"/>
      <p:regular r:id="rId31"/>
    </p:embeddedFont>
    <p:embeddedFont>
      <p:font typeface="Aptos Bold" charset="1" panose="020B0004020202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en.wikipedia.org/wiki/Public_university" TargetMode="External" Type="http://schemas.openxmlformats.org/officeDocument/2006/relationships/hyperlink"/><Relationship Id="rId4" Target="https://en.wikipedia.org/wiki/Technical_university" TargetMode="External" Type="http://schemas.openxmlformats.org/officeDocument/2006/relationships/hyperlink"/><Relationship Id="rId5" Target="https://en.wikipedia.org/wiki/Jaipur" TargetMode="External" Type="http://schemas.openxmlformats.org/officeDocument/2006/relationships/hyperlink"/><Relationship Id="rId6" Target="https://en.wikipedia.org/wiki/India" TargetMode="External" Type="http://schemas.openxmlformats.org/officeDocument/2006/relationships/hyperlink"/><Relationship Id="rId7"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59198" y="7064426"/>
            <a:ext cx="4914557" cy="1400175"/>
          </a:xfrm>
          <a:prstGeom prst="rect">
            <a:avLst/>
          </a:prstGeom>
        </p:spPr>
        <p:txBody>
          <a:bodyPr anchor="t" rtlCol="false" tIns="0" lIns="0" bIns="0" rIns="0">
            <a:spAutoFit/>
          </a:bodyPr>
          <a:lstStyle/>
          <a:p>
            <a:pPr algn="just">
              <a:lnSpc>
                <a:spcPts val="3600"/>
              </a:lnSpc>
            </a:pPr>
            <a:r>
              <a:rPr lang="en-US" sz="3000" b="true">
                <a:solidFill>
                  <a:srgbClr val="000000"/>
                </a:solidFill>
                <a:latin typeface="Times New Roman Bold"/>
                <a:ea typeface="Times New Roman Bold"/>
                <a:cs typeface="Times New Roman Bold"/>
                <a:sym typeface="Times New Roman Bold"/>
              </a:rPr>
              <a:t>Submitted By:</a:t>
            </a:r>
          </a:p>
          <a:p>
            <a:pPr algn="just">
              <a:lnSpc>
                <a:spcPts val="3600"/>
              </a:lnSpc>
            </a:pPr>
            <a:r>
              <a:rPr lang="en-US" sz="3000" b="true">
                <a:solidFill>
                  <a:srgbClr val="000000"/>
                </a:solidFill>
                <a:latin typeface="Times New Roman Bold"/>
                <a:ea typeface="Times New Roman Bold"/>
                <a:cs typeface="Times New Roman Bold"/>
                <a:sym typeface="Times New Roman Bold"/>
              </a:rPr>
              <a:t>Name:- Harshit Singh Hada</a:t>
            </a:r>
          </a:p>
          <a:p>
            <a:pPr algn="just">
              <a:lnSpc>
                <a:spcPts val="3600"/>
              </a:lnSpc>
            </a:pPr>
            <a:r>
              <a:rPr lang="en-US" sz="3000" b="true">
                <a:solidFill>
                  <a:srgbClr val="000000"/>
                </a:solidFill>
                <a:latin typeface="Times New Roman Bold"/>
                <a:ea typeface="Times New Roman Bold"/>
                <a:cs typeface="Times New Roman Bold"/>
                <a:sym typeface="Times New Roman Bold"/>
              </a:rPr>
              <a:t>Roll No.:- 24ESKCS145</a:t>
            </a:r>
          </a:p>
        </p:txBody>
      </p:sp>
      <p:sp>
        <p:nvSpPr>
          <p:cNvPr name="TextBox 3" id="3"/>
          <p:cNvSpPr txBox="true"/>
          <p:nvPr/>
        </p:nvSpPr>
        <p:spPr>
          <a:xfrm rot="0">
            <a:off x="6949945" y="2088909"/>
            <a:ext cx="4653829" cy="1358770"/>
          </a:xfrm>
          <a:prstGeom prst="rect">
            <a:avLst/>
          </a:prstGeom>
        </p:spPr>
        <p:txBody>
          <a:bodyPr anchor="t" rtlCol="false" tIns="0" lIns="0" bIns="0" rIns="0">
            <a:spAutoFit/>
          </a:bodyPr>
          <a:lstStyle/>
          <a:p>
            <a:pPr algn="ctr">
              <a:lnSpc>
                <a:spcPts val="5040"/>
              </a:lnSpc>
            </a:pPr>
            <a:r>
              <a:rPr lang="en-US" sz="4200" b="true">
                <a:solidFill>
                  <a:srgbClr val="0F0F0F"/>
                </a:solidFill>
                <a:latin typeface="Times New Roman Bold"/>
                <a:ea typeface="Times New Roman Bold"/>
                <a:cs typeface="Times New Roman Bold"/>
                <a:sym typeface="Times New Roman Bold"/>
              </a:rPr>
              <a:t>Industrial Training </a:t>
            </a:r>
          </a:p>
          <a:p>
            <a:pPr algn="ctr">
              <a:lnSpc>
                <a:spcPts val="5040"/>
              </a:lnSpc>
            </a:pPr>
            <a:r>
              <a:rPr lang="en-US" sz="4200" b="true">
                <a:solidFill>
                  <a:srgbClr val="0F0F0F"/>
                </a:solidFill>
                <a:latin typeface="Times New Roman Bold"/>
                <a:ea typeface="Times New Roman Bold"/>
                <a:cs typeface="Times New Roman Bold"/>
                <a:sym typeface="Times New Roman Bold"/>
              </a:rPr>
              <a:t>Presentation</a:t>
            </a:r>
          </a:p>
        </p:txBody>
      </p:sp>
      <p:grpSp>
        <p:nvGrpSpPr>
          <p:cNvPr name="Group 4" id="4"/>
          <p:cNvGrpSpPr/>
          <p:nvPr/>
        </p:nvGrpSpPr>
        <p:grpSpPr>
          <a:xfrm rot="0">
            <a:off x="530209" y="262014"/>
            <a:ext cx="1700212" cy="1800225"/>
            <a:chOff x="0" y="0"/>
            <a:chExt cx="2266950" cy="2400300"/>
          </a:xfrm>
        </p:grpSpPr>
        <p:sp>
          <p:nvSpPr>
            <p:cNvPr name="Freeform 5" id="5"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6" id="6"/>
          <p:cNvSpPr txBox="true"/>
          <p:nvPr/>
        </p:nvSpPr>
        <p:spPr>
          <a:xfrm rot="0">
            <a:off x="1779356" y="489014"/>
            <a:ext cx="15386799" cy="952795"/>
          </a:xfrm>
          <a:prstGeom prst="rect">
            <a:avLst/>
          </a:prstGeom>
        </p:spPr>
        <p:txBody>
          <a:bodyPr anchor="t" rtlCol="false" tIns="0" lIns="0" bIns="0" rIns="0">
            <a:spAutoFit/>
          </a:bodyPr>
          <a:lstStyle/>
          <a:p>
            <a:pPr algn="ctr">
              <a:lnSpc>
                <a:spcPts val="3600"/>
              </a:lnSpc>
            </a:pPr>
            <a:r>
              <a:rPr lang="en-US" sz="3000" b="true">
                <a:solidFill>
                  <a:srgbClr val="C00000"/>
                </a:solidFill>
                <a:latin typeface="Times New Roman Bold"/>
                <a:ea typeface="Times New Roman Bold"/>
                <a:cs typeface="Times New Roman Bold"/>
                <a:sym typeface="Times New Roman Bold"/>
              </a:rPr>
              <a:t>Swami Keshvanand Institute of Technology, Management &amp; Gramothan, Jaipur</a:t>
            </a:r>
          </a:p>
          <a:p>
            <a:pPr algn="ctr">
              <a:lnSpc>
                <a:spcPts val="3240"/>
              </a:lnSpc>
            </a:pPr>
            <a:r>
              <a:rPr lang="en-US" sz="2700" b="true">
                <a:solidFill>
                  <a:srgbClr val="C00000"/>
                </a:solidFill>
                <a:latin typeface="Times New Roman Bold"/>
                <a:ea typeface="Times New Roman Bold"/>
                <a:cs typeface="Times New Roman Bold"/>
                <a:sym typeface="Times New Roman Bold"/>
              </a:rPr>
              <a:t>(An Autonomous Institute Affiliated to Rajasthan Technical University, Kota)</a:t>
            </a:r>
          </a:p>
        </p:txBody>
      </p:sp>
      <p:sp>
        <p:nvSpPr>
          <p:cNvPr name="TextBox 7" id="7"/>
          <p:cNvSpPr txBox="true"/>
          <p:nvPr/>
        </p:nvSpPr>
        <p:spPr>
          <a:xfrm rot="0">
            <a:off x="621649" y="7064426"/>
            <a:ext cx="4914557" cy="1400175"/>
          </a:xfrm>
          <a:prstGeom prst="rect">
            <a:avLst/>
          </a:prstGeom>
        </p:spPr>
        <p:txBody>
          <a:bodyPr anchor="t" rtlCol="false" tIns="0" lIns="0" bIns="0" rIns="0">
            <a:spAutoFit/>
          </a:bodyPr>
          <a:lstStyle/>
          <a:p>
            <a:pPr algn="just">
              <a:lnSpc>
                <a:spcPts val="3600"/>
              </a:lnSpc>
            </a:pPr>
            <a:r>
              <a:rPr lang="en-US" sz="3000" b="true">
                <a:solidFill>
                  <a:srgbClr val="000000"/>
                </a:solidFill>
                <a:latin typeface="Times New Roman Bold"/>
                <a:ea typeface="Times New Roman Bold"/>
                <a:cs typeface="Times New Roman Bold"/>
                <a:sym typeface="Times New Roman Bold"/>
              </a:rPr>
              <a:t>Submitted To:</a:t>
            </a:r>
          </a:p>
          <a:p>
            <a:pPr algn="just">
              <a:lnSpc>
                <a:spcPts val="3600"/>
              </a:lnSpc>
            </a:pPr>
            <a:r>
              <a:rPr lang="en-US" sz="3000" b="true">
                <a:solidFill>
                  <a:srgbClr val="000000"/>
                </a:solidFill>
                <a:latin typeface="Times New Roman Bold"/>
                <a:ea typeface="Times New Roman Bold"/>
                <a:cs typeface="Times New Roman Bold"/>
                <a:sym typeface="Times New Roman Bold"/>
              </a:rPr>
              <a:t>Name:- Ms. Meenakshi Nawal</a:t>
            </a:r>
          </a:p>
          <a:p>
            <a:pPr algn="just">
              <a:lnSpc>
                <a:spcPts val="3600"/>
              </a:lnSpc>
            </a:pPr>
            <a:r>
              <a:rPr lang="en-US" sz="3000" b="true">
                <a:solidFill>
                  <a:srgbClr val="000000"/>
                </a:solidFill>
                <a:latin typeface="Times New Roman Bold"/>
                <a:ea typeface="Times New Roman Bold"/>
                <a:cs typeface="Times New Roman Bold"/>
                <a:sym typeface="Times New Roman Bold"/>
              </a:rPr>
              <a:t>Assistant Professor</a:t>
            </a:r>
          </a:p>
        </p:txBody>
      </p:sp>
      <p:sp>
        <p:nvSpPr>
          <p:cNvPr name="TextBox 8" id="8"/>
          <p:cNvSpPr txBox="true"/>
          <p:nvPr/>
        </p:nvSpPr>
        <p:spPr>
          <a:xfrm rot="0">
            <a:off x="3543956" y="3886200"/>
            <a:ext cx="12397083" cy="2486025"/>
          </a:xfrm>
          <a:prstGeom prst="rect">
            <a:avLst/>
          </a:prstGeom>
        </p:spPr>
        <p:txBody>
          <a:bodyPr anchor="t" rtlCol="false" tIns="0" lIns="0" bIns="0" rIns="0">
            <a:spAutoFit/>
          </a:bodyPr>
          <a:lstStyle/>
          <a:p>
            <a:pPr algn="just">
              <a:lnSpc>
                <a:spcPts val="6480"/>
              </a:lnSpc>
            </a:pPr>
            <a:r>
              <a:rPr lang="en-US" b="true" sz="5400" u="sng">
                <a:solidFill>
                  <a:srgbClr val="0F0F0F"/>
                </a:solidFill>
                <a:latin typeface="Arial Bold"/>
                <a:ea typeface="Arial Bold"/>
                <a:cs typeface="Arial Bold"/>
                <a:sym typeface="Arial Bold"/>
              </a:rPr>
              <a:t>TOPIC:  FedE²LoRA: Entropy-Guided Heterogeneous Low-Rank Adaptation for Non-IID Federated Learning</a:t>
            </a:r>
          </a:p>
        </p:txBody>
      </p:sp>
      <p:grpSp>
        <p:nvGrpSpPr>
          <p:cNvPr name="Group 9" id="9"/>
          <p:cNvGrpSpPr/>
          <p:nvPr/>
        </p:nvGrpSpPr>
        <p:grpSpPr>
          <a:xfrm rot="0">
            <a:off x="16456362" y="262014"/>
            <a:ext cx="1108834" cy="1800225"/>
            <a:chOff x="0" y="0"/>
            <a:chExt cx="1478445" cy="2400300"/>
          </a:xfrm>
        </p:grpSpPr>
        <p:sp>
          <p:nvSpPr>
            <p:cNvPr name="Freeform 10" id="10" descr="https://www.skit.ac.in/images/headers/swamiji_photo.png"/>
            <p:cNvSpPr/>
            <p:nvPr/>
          </p:nvSpPr>
          <p:spPr>
            <a:xfrm flipH="false" flipV="false" rot="0">
              <a:off x="0" y="0"/>
              <a:ext cx="1478407" cy="2400300"/>
            </a:xfrm>
            <a:custGeom>
              <a:avLst/>
              <a:gdLst/>
              <a:ahLst/>
              <a:cxnLst/>
              <a:rect r="r" b="b" t="t" l="l"/>
              <a:pathLst>
                <a:path h="2400300" w="1478407">
                  <a:moveTo>
                    <a:pt x="0" y="0"/>
                  </a:moveTo>
                  <a:lnTo>
                    <a:pt x="1478407" y="0"/>
                  </a:lnTo>
                  <a:lnTo>
                    <a:pt x="1478407" y="2400300"/>
                  </a:lnTo>
                  <a:lnTo>
                    <a:pt x="0" y="2400300"/>
                  </a:lnTo>
                  <a:lnTo>
                    <a:pt x="0" y="0"/>
                  </a:lnTo>
                  <a:close/>
                </a:path>
              </a:pathLst>
            </a:custGeom>
            <a:blipFill>
              <a:blip r:embed="rId3"/>
              <a:stretch>
                <a:fillRect l="0" t="0" r="-2"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1472" y="327460"/>
            <a:ext cx="14125899" cy="992981"/>
            <a:chOff x="0" y="0"/>
            <a:chExt cx="18834532" cy="1323975"/>
          </a:xfrm>
        </p:grpSpPr>
        <p:sp>
          <p:nvSpPr>
            <p:cNvPr name="Freeform 3" id="3"/>
            <p:cNvSpPr/>
            <p:nvPr/>
          </p:nvSpPr>
          <p:spPr>
            <a:xfrm flipH="false" flipV="false" rot="0">
              <a:off x="0" y="0"/>
              <a:ext cx="18834481" cy="1323975"/>
            </a:xfrm>
            <a:custGeom>
              <a:avLst/>
              <a:gdLst/>
              <a:ahLst/>
              <a:cxnLst/>
              <a:rect r="r" b="b" t="t" l="l"/>
              <a:pathLst>
                <a:path h="1323975" w="18834481">
                  <a:moveTo>
                    <a:pt x="0" y="0"/>
                  </a:moveTo>
                  <a:lnTo>
                    <a:pt x="18834481" y="0"/>
                  </a:lnTo>
                  <a:lnTo>
                    <a:pt x="18834481" y="1323975"/>
                  </a:lnTo>
                  <a:lnTo>
                    <a:pt x="0" y="1323975"/>
                  </a:lnTo>
                  <a:close/>
                </a:path>
              </a:pathLst>
            </a:custGeom>
            <a:solidFill>
              <a:srgbClr val="C00000"/>
            </a:solidFill>
          </p:spPr>
        </p:sp>
        <p:sp>
          <p:nvSpPr>
            <p:cNvPr name="TextBox 4" id="4"/>
            <p:cNvSpPr txBox="true"/>
            <p:nvPr/>
          </p:nvSpPr>
          <p:spPr>
            <a:xfrm>
              <a:off x="0" y="-28575"/>
              <a:ext cx="18834532" cy="1352550"/>
            </a:xfrm>
            <a:prstGeom prst="rect">
              <a:avLst/>
            </a:prstGeom>
          </p:spPr>
          <p:txBody>
            <a:bodyPr anchor="ctr" rtlCol="false" tIns="50800" lIns="50800" bIns="50800" rIns="50800"/>
            <a:lstStyle/>
            <a:p>
              <a:pPr algn="ctr">
                <a:lnSpc>
                  <a:spcPts val="5759"/>
                </a:lnSpc>
              </a:pPr>
            </a:p>
            <a:p>
              <a:pPr algn="ctr">
                <a:lnSpc>
                  <a:spcPts val="5759"/>
                </a:lnSpc>
              </a:pPr>
              <a:r>
                <a:rPr lang="en-US" sz="4800" b="true">
                  <a:solidFill>
                    <a:srgbClr val="FFFFFF"/>
                  </a:solidFill>
                  <a:latin typeface="Times New Roman Bold"/>
                  <a:ea typeface="Times New Roman Bold"/>
                  <a:cs typeface="Times New Roman Bold"/>
                  <a:sym typeface="Times New Roman Bold"/>
                </a:rPr>
                <a:t>Index</a:t>
              </a:r>
            </a:p>
            <a:p>
              <a:pPr algn="ctr">
                <a:lnSpc>
                  <a:spcPts val="5759"/>
                </a:lnSpc>
              </a:pPr>
            </a:p>
          </p:txBody>
        </p:sp>
      </p:grpSp>
      <p:grpSp>
        <p:nvGrpSpPr>
          <p:cNvPr name="Group 5" id="5"/>
          <p:cNvGrpSpPr/>
          <p:nvPr/>
        </p:nvGrpSpPr>
        <p:grpSpPr>
          <a:xfrm rot="0">
            <a:off x="0" y="9922669"/>
            <a:ext cx="18288000" cy="345281"/>
            <a:chOff x="0" y="0"/>
            <a:chExt cx="24384000" cy="460375"/>
          </a:xfrm>
        </p:grpSpPr>
        <p:sp>
          <p:nvSpPr>
            <p:cNvPr name="Freeform 6" id="6"/>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7" id="7"/>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8" id="8"/>
          <p:cNvGrpSpPr/>
          <p:nvPr/>
        </p:nvGrpSpPr>
        <p:grpSpPr>
          <a:xfrm rot="0">
            <a:off x="530209" y="262014"/>
            <a:ext cx="1700212" cy="1800225"/>
            <a:chOff x="0" y="0"/>
            <a:chExt cx="2266950" cy="2400300"/>
          </a:xfrm>
        </p:grpSpPr>
        <p:sp>
          <p:nvSpPr>
            <p:cNvPr name="Freeform 9" id="9"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10" id="10"/>
          <p:cNvSpPr txBox="true"/>
          <p:nvPr/>
        </p:nvSpPr>
        <p:spPr>
          <a:xfrm rot="0">
            <a:off x="3704301" y="1495234"/>
            <a:ext cx="10203523" cy="9068572"/>
          </a:xfrm>
          <a:prstGeom prst="rect">
            <a:avLst/>
          </a:prstGeom>
        </p:spPr>
        <p:txBody>
          <a:bodyPr anchor="t" rtlCol="false" tIns="0" lIns="0" bIns="0" rIns="0">
            <a:spAutoFit/>
          </a:bodyPr>
          <a:lstStyle/>
          <a:p>
            <a:pPr algn="l">
              <a:lnSpc>
                <a:spcPts val="5040"/>
              </a:lnSpc>
            </a:pPr>
          </a:p>
          <a:p>
            <a:pPr algn="l" marL="760095" indent="-380048" lvl="1">
              <a:lnSpc>
                <a:spcPts val="7560"/>
              </a:lnSpc>
              <a:buAutoNum type="arabicPeriod" startAt="1"/>
            </a:pPr>
            <a:r>
              <a:rPr lang="en-US" b="true" sz="4200">
                <a:solidFill>
                  <a:srgbClr val="0F0F0F"/>
                </a:solidFill>
                <a:latin typeface="Times New Roman Bold"/>
                <a:ea typeface="Times New Roman Bold"/>
                <a:cs typeface="Times New Roman Bold"/>
                <a:sym typeface="Times New Roman Bold"/>
              </a:rPr>
              <a:t>Company Introduction</a:t>
            </a:r>
          </a:p>
          <a:p>
            <a:pPr algn="l" marL="760095" indent="-380048" lvl="1">
              <a:lnSpc>
                <a:spcPts val="7560"/>
              </a:lnSpc>
              <a:buAutoNum type="arabicPeriod" startAt="1"/>
            </a:pPr>
            <a:r>
              <a:rPr lang="en-US" b="true" sz="4200">
                <a:solidFill>
                  <a:srgbClr val="0F0F0F"/>
                </a:solidFill>
                <a:latin typeface="Times New Roman Bold"/>
                <a:ea typeface="Times New Roman Bold"/>
                <a:cs typeface="Times New Roman Bold"/>
                <a:sym typeface="Times New Roman Bold"/>
              </a:rPr>
              <a:t>Certificate</a:t>
            </a:r>
          </a:p>
          <a:p>
            <a:pPr algn="l" marL="760095" indent="-380048" lvl="1">
              <a:lnSpc>
                <a:spcPts val="7560"/>
              </a:lnSpc>
              <a:buAutoNum type="arabicPeriod" startAt="1"/>
            </a:pPr>
            <a:r>
              <a:rPr lang="en-US" b="true" sz="4200">
                <a:solidFill>
                  <a:srgbClr val="0F0F0F"/>
                </a:solidFill>
                <a:latin typeface="Times New Roman Bold"/>
                <a:ea typeface="Times New Roman Bold"/>
                <a:cs typeface="Times New Roman Bold"/>
                <a:sym typeface="Times New Roman Bold"/>
              </a:rPr>
              <a:t>Technology Used</a:t>
            </a:r>
          </a:p>
          <a:p>
            <a:pPr algn="l" marL="760095" indent="-380048" lvl="1">
              <a:lnSpc>
                <a:spcPts val="7560"/>
              </a:lnSpc>
              <a:buAutoNum type="arabicPeriod" startAt="1"/>
            </a:pPr>
            <a:r>
              <a:rPr lang="en-US" b="true" sz="4200">
                <a:solidFill>
                  <a:srgbClr val="000000"/>
                </a:solidFill>
                <a:latin typeface="Times New Roman Bold"/>
                <a:ea typeface="Times New Roman Bold"/>
                <a:cs typeface="Times New Roman Bold"/>
                <a:sym typeface="Times New Roman Bold"/>
              </a:rPr>
              <a:t>Goal of Training</a:t>
            </a:r>
          </a:p>
          <a:p>
            <a:pPr algn="l" marL="760095" indent="-380048" lvl="1">
              <a:lnSpc>
                <a:spcPts val="7560"/>
              </a:lnSpc>
              <a:buAutoNum type="arabicPeriod" startAt="1"/>
            </a:pPr>
            <a:r>
              <a:rPr lang="en-US" b="true" sz="4200">
                <a:solidFill>
                  <a:srgbClr val="000000"/>
                </a:solidFill>
                <a:latin typeface="Times New Roman Bold"/>
                <a:ea typeface="Times New Roman Bold"/>
                <a:cs typeface="Times New Roman Bold"/>
                <a:sym typeface="Times New Roman Bold"/>
              </a:rPr>
              <a:t>Project Overview</a:t>
            </a:r>
          </a:p>
          <a:p>
            <a:pPr algn="l" marL="760095" indent="-380048" lvl="1">
              <a:lnSpc>
                <a:spcPts val="7560"/>
              </a:lnSpc>
              <a:buAutoNum type="arabicPeriod" startAt="1"/>
            </a:pPr>
            <a:r>
              <a:rPr lang="en-US" b="true" sz="4200">
                <a:solidFill>
                  <a:srgbClr val="000000"/>
                </a:solidFill>
                <a:latin typeface="Times New Roman Bold"/>
                <a:ea typeface="Times New Roman Bold"/>
                <a:cs typeface="Times New Roman Bold"/>
                <a:sym typeface="Times New Roman Bold"/>
              </a:rPr>
              <a:t>Working Project</a:t>
            </a:r>
          </a:p>
          <a:p>
            <a:pPr algn="l" marL="760095" indent="-380048" lvl="1">
              <a:lnSpc>
                <a:spcPts val="7560"/>
              </a:lnSpc>
              <a:buAutoNum type="arabicPeriod" startAt="1"/>
            </a:pPr>
            <a:r>
              <a:rPr lang="en-US" b="true" sz="4200">
                <a:solidFill>
                  <a:srgbClr val="000000"/>
                </a:solidFill>
                <a:latin typeface="Times New Roman Bold"/>
                <a:ea typeface="Times New Roman Bold"/>
                <a:cs typeface="Times New Roman Bold"/>
                <a:sym typeface="Times New Roman Bold"/>
              </a:rPr>
              <a:t>Future Scope</a:t>
            </a:r>
          </a:p>
          <a:p>
            <a:pPr algn="l" marL="760095" indent="-380048" lvl="1">
              <a:lnSpc>
                <a:spcPts val="7560"/>
              </a:lnSpc>
              <a:buAutoNum type="arabicPeriod" startAt="1"/>
            </a:pPr>
            <a:r>
              <a:rPr lang="en-US" b="true" sz="4200">
                <a:solidFill>
                  <a:srgbClr val="000000"/>
                </a:solidFill>
                <a:latin typeface="Times New Roman Bold"/>
                <a:ea typeface="Times New Roman Bold"/>
                <a:cs typeface="Times New Roman Bold"/>
                <a:sym typeface="Times New Roman Bold"/>
              </a:rPr>
              <a:t>Q&amp;A</a:t>
            </a:r>
          </a:p>
          <a:p>
            <a:pPr algn="l" marL="760095" indent="-380048" lvl="1">
              <a:lnSpc>
                <a:spcPts val="5040"/>
              </a:lnSpc>
            </a:pPr>
          </a:p>
          <a:p>
            <a:pPr algn="l" marL="760095" indent="-380048" lvl="1">
              <a:lnSpc>
                <a:spcPts val="504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1472" y="327460"/>
            <a:ext cx="14125899" cy="992981"/>
            <a:chOff x="0" y="0"/>
            <a:chExt cx="18834532" cy="1323975"/>
          </a:xfrm>
        </p:grpSpPr>
        <p:sp>
          <p:nvSpPr>
            <p:cNvPr name="Freeform 3" id="3"/>
            <p:cNvSpPr/>
            <p:nvPr/>
          </p:nvSpPr>
          <p:spPr>
            <a:xfrm flipH="false" flipV="false" rot="0">
              <a:off x="0" y="0"/>
              <a:ext cx="18834481" cy="1323975"/>
            </a:xfrm>
            <a:custGeom>
              <a:avLst/>
              <a:gdLst/>
              <a:ahLst/>
              <a:cxnLst/>
              <a:rect r="r" b="b" t="t" l="l"/>
              <a:pathLst>
                <a:path h="1323975" w="18834481">
                  <a:moveTo>
                    <a:pt x="0" y="0"/>
                  </a:moveTo>
                  <a:lnTo>
                    <a:pt x="18834481" y="0"/>
                  </a:lnTo>
                  <a:lnTo>
                    <a:pt x="18834481" y="1323975"/>
                  </a:lnTo>
                  <a:lnTo>
                    <a:pt x="0" y="1323975"/>
                  </a:lnTo>
                  <a:close/>
                </a:path>
              </a:pathLst>
            </a:custGeom>
            <a:solidFill>
              <a:srgbClr val="C00000"/>
            </a:solidFill>
          </p:spPr>
        </p:sp>
        <p:sp>
          <p:nvSpPr>
            <p:cNvPr name="TextBox 4" id="4"/>
            <p:cNvSpPr txBox="true"/>
            <p:nvPr/>
          </p:nvSpPr>
          <p:spPr>
            <a:xfrm>
              <a:off x="0" y="-28575"/>
              <a:ext cx="18834532" cy="1352550"/>
            </a:xfrm>
            <a:prstGeom prst="rect">
              <a:avLst/>
            </a:prstGeom>
          </p:spPr>
          <p:txBody>
            <a:bodyPr anchor="ctr" rtlCol="false" tIns="50800" lIns="50800" bIns="50800" rIns="50800"/>
            <a:lstStyle/>
            <a:p>
              <a:pPr algn="ctr">
                <a:lnSpc>
                  <a:spcPts val="5759"/>
                </a:lnSpc>
              </a:pPr>
            </a:p>
            <a:p>
              <a:pPr algn="ctr">
                <a:lnSpc>
                  <a:spcPts val="5759"/>
                </a:lnSpc>
              </a:pPr>
              <a:r>
                <a:rPr lang="en-US" sz="4800" b="true">
                  <a:solidFill>
                    <a:srgbClr val="FFFFFF"/>
                  </a:solidFill>
                  <a:latin typeface="Times New Roman Bold"/>
                  <a:ea typeface="Times New Roman Bold"/>
                  <a:cs typeface="Times New Roman Bold"/>
                  <a:sym typeface="Times New Roman Bold"/>
                </a:rPr>
                <a:t>Company Introduction</a:t>
              </a:r>
            </a:p>
            <a:p>
              <a:pPr algn="ctr">
                <a:lnSpc>
                  <a:spcPts val="5759"/>
                </a:lnSpc>
              </a:pPr>
            </a:p>
          </p:txBody>
        </p:sp>
      </p:grpSp>
      <p:grpSp>
        <p:nvGrpSpPr>
          <p:cNvPr name="Group 5" id="5"/>
          <p:cNvGrpSpPr/>
          <p:nvPr/>
        </p:nvGrpSpPr>
        <p:grpSpPr>
          <a:xfrm rot="0">
            <a:off x="0" y="9922669"/>
            <a:ext cx="18288000" cy="345281"/>
            <a:chOff x="0" y="0"/>
            <a:chExt cx="24384000" cy="460375"/>
          </a:xfrm>
        </p:grpSpPr>
        <p:sp>
          <p:nvSpPr>
            <p:cNvPr name="Freeform 6" id="6"/>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7" id="7"/>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8" id="8"/>
          <p:cNvGrpSpPr/>
          <p:nvPr/>
        </p:nvGrpSpPr>
        <p:grpSpPr>
          <a:xfrm rot="0">
            <a:off x="530209" y="262014"/>
            <a:ext cx="1700212" cy="1800225"/>
            <a:chOff x="0" y="0"/>
            <a:chExt cx="2266950" cy="2400300"/>
          </a:xfrm>
        </p:grpSpPr>
        <p:sp>
          <p:nvSpPr>
            <p:cNvPr name="Freeform 9" id="9"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10" id="10"/>
          <p:cNvSpPr txBox="true"/>
          <p:nvPr/>
        </p:nvSpPr>
        <p:spPr>
          <a:xfrm rot="0">
            <a:off x="3482912" y="1788290"/>
            <a:ext cx="13943019" cy="5981700"/>
          </a:xfrm>
          <a:prstGeom prst="rect">
            <a:avLst/>
          </a:prstGeom>
        </p:spPr>
        <p:txBody>
          <a:bodyPr anchor="t" rtlCol="false" tIns="0" lIns="0" bIns="0" rIns="0">
            <a:spAutoFit/>
          </a:bodyPr>
          <a:lstStyle/>
          <a:p>
            <a:pPr algn="l">
              <a:lnSpc>
                <a:spcPts val="4680"/>
              </a:lnSpc>
            </a:pPr>
            <a:r>
              <a:rPr lang="en-US" sz="3900" b="true">
                <a:solidFill>
                  <a:srgbClr val="000000"/>
                </a:solidFill>
                <a:latin typeface="Calibri (MS) Bold"/>
                <a:ea typeface="Calibri (MS) Bold"/>
                <a:cs typeface="Calibri (MS) Bold"/>
                <a:sym typeface="Calibri (MS) Bold"/>
              </a:rPr>
              <a:t>Malaviya Nati</a:t>
            </a:r>
            <a:r>
              <a:rPr lang="en-US" sz="3900" b="true">
                <a:solidFill>
                  <a:srgbClr val="000000"/>
                </a:solidFill>
                <a:latin typeface="Calibri (MS) Bold"/>
                <a:ea typeface="Calibri (MS) Bold"/>
                <a:cs typeface="Calibri (MS) Bold"/>
                <a:sym typeface="Calibri (MS) Bold"/>
              </a:rPr>
              <a:t>onal Institute of Technology Jaipur (MNIT or NIT Jaipur) is a </a:t>
            </a:r>
            <a:r>
              <a:rPr lang="en-US" b="true" sz="3900" u="sng">
                <a:solidFill>
                  <a:srgbClr val="000000"/>
                </a:solidFill>
                <a:latin typeface="Calibri (MS) Bold"/>
                <a:ea typeface="Calibri (MS) Bold"/>
                <a:cs typeface="Calibri (MS) Bold"/>
                <a:sym typeface="Calibri (MS) Bold"/>
                <a:hlinkClick r:id="rId3" tooltip="https://en.wikipedia.org/wiki/Public_university"/>
              </a:rPr>
              <a:t>public</a:t>
            </a:r>
            <a:r>
              <a:rPr lang="en-US" sz="3900" b="true">
                <a:solidFill>
                  <a:srgbClr val="000000"/>
                </a:solidFill>
                <a:latin typeface="Calibri (MS) Bold"/>
                <a:ea typeface="Calibri (MS) Bold"/>
                <a:cs typeface="Calibri (MS) Bold"/>
                <a:sym typeface="Calibri (MS) Bold"/>
              </a:rPr>
              <a:t> </a:t>
            </a:r>
            <a:r>
              <a:rPr lang="en-US" b="true" sz="3900" u="sng">
                <a:solidFill>
                  <a:srgbClr val="000000"/>
                </a:solidFill>
                <a:latin typeface="Calibri (MS) Bold"/>
                <a:ea typeface="Calibri (MS) Bold"/>
                <a:cs typeface="Calibri (MS) Bold"/>
                <a:sym typeface="Calibri (MS) Bold"/>
                <a:hlinkClick r:id="rId4" tooltip="https://en.wikipedia.org/wiki/Technical_university"/>
              </a:rPr>
              <a:t>technical university</a:t>
            </a:r>
            <a:r>
              <a:rPr lang="en-US" sz="3900" b="true">
                <a:solidFill>
                  <a:srgbClr val="000000"/>
                </a:solidFill>
                <a:latin typeface="Calibri (MS) Bold"/>
                <a:ea typeface="Calibri (MS) Bold"/>
                <a:cs typeface="Calibri (MS) Bold"/>
                <a:sym typeface="Calibri (MS) Bold"/>
              </a:rPr>
              <a:t> established by an act of Parliament of India and is located in </a:t>
            </a:r>
            <a:r>
              <a:rPr lang="en-US" b="true" sz="3900" u="sng">
                <a:solidFill>
                  <a:srgbClr val="000000"/>
                </a:solidFill>
                <a:latin typeface="Calibri (MS) Bold"/>
                <a:ea typeface="Calibri (MS) Bold"/>
                <a:cs typeface="Calibri (MS) Bold"/>
                <a:sym typeface="Calibri (MS) Bold"/>
                <a:hlinkClick r:id="rId5" tooltip="https://en.wikipedia.org/wiki/Jaipur"/>
              </a:rPr>
              <a:t>Jaipur</a:t>
            </a:r>
            <a:r>
              <a:rPr lang="en-US" sz="3900" b="true">
                <a:solidFill>
                  <a:srgbClr val="000000"/>
                </a:solidFill>
                <a:latin typeface="Calibri (MS) Bold"/>
                <a:ea typeface="Calibri (MS) Bold"/>
                <a:cs typeface="Calibri (MS) Bold"/>
                <a:sym typeface="Calibri (MS) Bold"/>
              </a:rPr>
              <a:t>, </a:t>
            </a:r>
            <a:r>
              <a:rPr lang="en-US" b="true" sz="3900" u="sng">
                <a:solidFill>
                  <a:srgbClr val="000000"/>
                </a:solidFill>
                <a:latin typeface="Calibri (MS) Bold"/>
                <a:ea typeface="Calibri (MS) Bold"/>
                <a:cs typeface="Calibri (MS) Bold"/>
                <a:sym typeface="Calibri (MS) Bold"/>
                <a:hlinkClick r:id="rId6" tooltip="https://en.wikipedia.org/wiki/India"/>
              </a:rPr>
              <a:t>India</a:t>
            </a:r>
            <a:r>
              <a:rPr lang="en-US" sz="3900" b="true">
                <a:solidFill>
                  <a:srgbClr val="000000"/>
                </a:solidFill>
                <a:latin typeface="Calibri (MS) Bold"/>
                <a:ea typeface="Calibri (MS) Bold"/>
                <a:cs typeface="Calibri (MS) Bold"/>
                <a:sym typeface="Calibri (MS) Bold"/>
              </a:rPr>
              <a:t> with an emphasis on engineering whereas programmes in science and management are also offered.</a:t>
            </a:r>
          </a:p>
          <a:p>
            <a:pPr algn="l">
              <a:lnSpc>
                <a:spcPts val="4680"/>
              </a:lnSpc>
            </a:pPr>
            <a:r>
              <a:rPr lang="en-US" sz="3900" b="true">
                <a:solidFill>
                  <a:srgbClr val="000000"/>
                </a:solidFill>
                <a:latin typeface="Calibri (MS) Bold"/>
                <a:ea typeface="Calibri (MS) Bold"/>
                <a:cs typeface="Calibri (MS) Bold"/>
                <a:sym typeface="Calibri (MS) Bold"/>
              </a:rPr>
              <a:t>Founded in 1963, and formerly known as Malaviya Regional Engineering College (MREC) Jaipur.</a:t>
            </a:r>
          </a:p>
          <a:p>
            <a:pPr algn="l">
              <a:lnSpc>
                <a:spcPts val="4680"/>
              </a:lnSpc>
            </a:pPr>
            <a:r>
              <a:rPr lang="en-US" sz="3900" b="true">
                <a:solidFill>
                  <a:srgbClr val="000000"/>
                </a:solidFill>
                <a:latin typeface="Calibri (MS) Bold"/>
                <a:ea typeface="Calibri (MS) Bold"/>
                <a:cs typeface="Calibri (MS) Bold"/>
                <a:sym typeface="Calibri (MS) Bold"/>
              </a:rPr>
              <a:t>MNIT is 3rd ranked NIT according to research ranking of NIRF ranking and 50th overall.</a:t>
            </a:r>
          </a:p>
          <a:p>
            <a:pPr algn="l">
              <a:lnSpc>
                <a:spcPts val="4680"/>
              </a:lnSpc>
            </a:pPr>
            <a:r>
              <a:rPr lang="en-US" sz="3900" b="true">
                <a:solidFill>
                  <a:srgbClr val="000000"/>
                </a:solidFill>
                <a:latin typeface="Calibri (MS) Bold"/>
                <a:ea typeface="Calibri (MS) Bold"/>
                <a:cs typeface="Calibri (MS) Bold"/>
                <a:sym typeface="Calibri (MS) Bold"/>
              </a:rPr>
              <a:t>MNIT have three center for research</a:t>
            </a:r>
          </a:p>
        </p:txBody>
      </p:sp>
      <p:sp>
        <p:nvSpPr>
          <p:cNvPr name="Freeform 11" id="11"/>
          <p:cNvSpPr/>
          <p:nvPr/>
        </p:nvSpPr>
        <p:spPr>
          <a:xfrm flipH="false" flipV="false" rot="0">
            <a:off x="411467" y="2479337"/>
            <a:ext cx="1937696" cy="1953198"/>
          </a:xfrm>
          <a:custGeom>
            <a:avLst/>
            <a:gdLst/>
            <a:ahLst/>
            <a:cxnLst/>
            <a:rect r="r" b="b" t="t" l="l"/>
            <a:pathLst>
              <a:path h="1953198" w="1937696">
                <a:moveTo>
                  <a:pt x="0" y="0"/>
                </a:moveTo>
                <a:lnTo>
                  <a:pt x="1937696" y="0"/>
                </a:lnTo>
                <a:lnTo>
                  <a:pt x="1937696" y="1953197"/>
                </a:lnTo>
                <a:lnTo>
                  <a:pt x="0" y="1953197"/>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07190" y="-407067"/>
            <a:ext cx="8194400" cy="10694067"/>
          </a:xfrm>
          <a:custGeom>
            <a:avLst/>
            <a:gdLst/>
            <a:ahLst/>
            <a:cxnLst/>
            <a:rect r="r" b="b" t="t" l="l"/>
            <a:pathLst>
              <a:path h="10694067" w="8194400">
                <a:moveTo>
                  <a:pt x="0" y="0"/>
                </a:moveTo>
                <a:lnTo>
                  <a:pt x="8194400" y="0"/>
                </a:lnTo>
                <a:lnTo>
                  <a:pt x="8194400" y="10694067"/>
                </a:lnTo>
                <a:lnTo>
                  <a:pt x="0" y="10694067"/>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1472" y="327460"/>
            <a:ext cx="14125899" cy="992981"/>
            <a:chOff x="0" y="0"/>
            <a:chExt cx="18834532" cy="1323975"/>
          </a:xfrm>
        </p:grpSpPr>
        <p:sp>
          <p:nvSpPr>
            <p:cNvPr name="Freeform 3" id="3"/>
            <p:cNvSpPr/>
            <p:nvPr/>
          </p:nvSpPr>
          <p:spPr>
            <a:xfrm flipH="false" flipV="false" rot="0">
              <a:off x="0" y="0"/>
              <a:ext cx="18834481" cy="1323975"/>
            </a:xfrm>
            <a:custGeom>
              <a:avLst/>
              <a:gdLst/>
              <a:ahLst/>
              <a:cxnLst/>
              <a:rect r="r" b="b" t="t" l="l"/>
              <a:pathLst>
                <a:path h="1323975" w="18834481">
                  <a:moveTo>
                    <a:pt x="0" y="0"/>
                  </a:moveTo>
                  <a:lnTo>
                    <a:pt x="18834481" y="0"/>
                  </a:lnTo>
                  <a:lnTo>
                    <a:pt x="18834481" y="1323975"/>
                  </a:lnTo>
                  <a:lnTo>
                    <a:pt x="0" y="1323975"/>
                  </a:lnTo>
                  <a:close/>
                </a:path>
              </a:pathLst>
            </a:custGeom>
            <a:solidFill>
              <a:srgbClr val="C00000"/>
            </a:solidFill>
          </p:spPr>
        </p:sp>
        <p:sp>
          <p:nvSpPr>
            <p:cNvPr name="TextBox 4" id="4"/>
            <p:cNvSpPr txBox="true"/>
            <p:nvPr/>
          </p:nvSpPr>
          <p:spPr>
            <a:xfrm>
              <a:off x="0" y="-28575"/>
              <a:ext cx="18834532" cy="1352550"/>
            </a:xfrm>
            <a:prstGeom prst="rect">
              <a:avLst/>
            </a:prstGeom>
          </p:spPr>
          <p:txBody>
            <a:bodyPr anchor="ctr" rtlCol="false" tIns="50800" lIns="50800" bIns="50800" rIns="50800"/>
            <a:lstStyle/>
            <a:p>
              <a:pPr algn="ctr">
                <a:lnSpc>
                  <a:spcPts val="5759"/>
                </a:lnSpc>
              </a:pPr>
            </a:p>
            <a:p>
              <a:pPr algn="ctr">
                <a:lnSpc>
                  <a:spcPts val="5759"/>
                </a:lnSpc>
              </a:pPr>
              <a:r>
                <a:rPr lang="en-US" sz="4800">
                  <a:solidFill>
                    <a:srgbClr val="FFFFFF"/>
                  </a:solidFill>
                  <a:latin typeface="Times New Roman"/>
                  <a:ea typeface="Times New Roman"/>
                  <a:cs typeface="Times New Roman"/>
                  <a:sym typeface="Times New Roman"/>
                </a:rPr>
                <a:t>Technology Stack Used</a:t>
              </a:r>
            </a:p>
            <a:p>
              <a:pPr algn="ctr">
                <a:lnSpc>
                  <a:spcPts val="5759"/>
                </a:lnSpc>
              </a:pPr>
            </a:p>
          </p:txBody>
        </p:sp>
      </p:grpSp>
      <p:grpSp>
        <p:nvGrpSpPr>
          <p:cNvPr name="Group 5" id="5"/>
          <p:cNvGrpSpPr/>
          <p:nvPr/>
        </p:nvGrpSpPr>
        <p:grpSpPr>
          <a:xfrm rot="0">
            <a:off x="0" y="9922669"/>
            <a:ext cx="18288000" cy="345281"/>
            <a:chOff x="0" y="0"/>
            <a:chExt cx="24384000" cy="460375"/>
          </a:xfrm>
        </p:grpSpPr>
        <p:sp>
          <p:nvSpPr>
            <p:cNvPr name="Freeform 6" id="6"/>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7" id="7"/>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8" id="8"/>
          <p:cNvGrpSpPr/>
          <p:nvPr/>
        </p:nvGrpSpPr>
        <p:grpSpPr>
          <a:xfrm rot="0">
            <a:off x="366217" y="187471"/>
            <a:ext cx="1700212" cy="1800225"/>
            <a:chOff x="0" y="0"/>
            <a:chExt cx="2266950" cy="2400300"/>
          </a:xfrm>
        </p:grpSpPr>
        <p:sp>
          <p:nvSpPr>
            <p:cNvPr name="Freeform 9" id="9"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Freeform 10" id="10"/>
          <p:cNvSpPr/>
          <p:nvPr/>
        </p:nvSpPr>
        <p:spPr>
          <a:xfrm flipH="false" flipV="false" rot="0">
            <a:off x="-430398" y="4071913"/>
            <a:ext cx="7643739" cy="4255979"/>
          </a:xfrm>
          <a:custGeom>
            <a:avLst/>
            <a:gdLst/>
            <a:ahLst/>
            <a:cxnLst/>
            <a:rect r="r" b="b" t="t" l="l"/>
            <a:pathLst>
              <a:path h="4255979" w="7643739">
                <a:moveTo>
                  <a:pt x="0" y="0"/>
                </a:moveTo>
                <a:lnTo>
                  <a:pt x="7643739" y="0"/>
                </a:lnTo>
                <a:lnTo>
                  <a:pt x="7643739" y="4255979"/>
                </a:lnTo>
                <a:lnTo>
                  <a:pt x="0" y="4255979"/>
                </a:lnTo>
                <a:lnTo>
                  <a:pt x="0" y="0"/>
                </a:lnTo>
                <a:close/>
              </a:path>
            </a:pathLst>
          </a:custGeom>
          <a:blipFill>
            <a:blip r:embed="rId3"/>
            <a:stretch>
              <a:fillRect l="0" t="0" r="0" b="0"/>
            </a:stretch>
          </a:blipFill>
        </p:spPr>
      </p:sp>
      <p:sp>
        <p:nvSpPr>
          <p:cNvPr name="Freeform 11" id="11"/>
          <p:cNvSpPr/>
          <p:nvPr/>
        </p:nvSpPr>
        <p:spPr>
          <a:xfrm flipH="false" flipV="false" rot="0">
            <a:off x="3391472" y="2321763"/>
            <a:ext cx="2386243" cy="2386243"/>
          </a:xfrm>
          <a:custGeom>
            <a:avLst/>
            <a:gdLst/>
            <a:ahLst/>
            <a:cxnLst/>
            <a:rect r="r" b="b" t="t" l="l"/>
            <a:pathLst>
              <a:path h="2386243" w="2386243">
                <a:moveTo>
                  <a:pt x="0" y="0"/>
                </a:moveTo>
                <a:lnTo>
                  <a:pt x="2386242" y="0"/>
                </a:lnTo>
                <a:lnTo>
                  <a:pt x="2386242" y="2386243"/>
                </a:lnTo>
                <a:lnTo>
                  <a:pt x="0" y="2386243"/>
                </a:lnTo>
                <a:lnTo>
                  <a:pt x="0" y="0"/>
                </a:lnTo>
                <a:close/>
              </a:path>
            </a:pathLst>
          </a:custGeom>
          <a:blipFill>
            <a:blip r:embed="rId4"/>
            <a:stretch>
              <a:fillRect l="0" t="0" r="0" b="0"/>
            </a:stretch>
          </a:blipFill>
        </p:spPr>
      </p:sp>
      <p:sp>
        <p:nvSpPr>
          <p:cNvPr name="Freeform 12" id="12"/>
          <p:cNvSpPr/>
          <p:nvPr/>
        </p:nvSpPr>
        <p:spPr>
          <a:xfrm flipH="false" flipV="false" rot="0">
            <a:off x="6757757" y="2321763"/>
            <a:ext cx="4772486" cy="2386243"/>
          </a:xfrm>
          <a:custGeom>
            <a:avLst/>
            <a:gdLst/>
            <a:ahLst/>
            <a:cxnLst/>
            <a:rect r="r" b="b" t="t" l="l"/>
            <a:pathLst>
              <a:path h="2386243" w="4772486">
                <a:moveTo>
                  <a:pt x="0" y="0"/>
                </a:moveTo>
                <a:lnTo>
                  <a:pt x="4772486" y="0"/>
                </a:lnTo>
                <a:lnTo>
                  <a:pt x="4772486" y="2386243"/>
                </a:lnTo>
                <a:lnTo>
                  <a:pt x="0" y="2386243"/>
                </a:lnTo>
                <a:lnTo>
                  <a:pt x="0" y="0"/>
                </a:lnTo>
                <a:close/>
              </a:path>
            </a:pathLst>
          </a:custGeom>
          <a:blipFill>
            <a:blip r:embed="rId5"/>
            <a:stretch>
              <a:fillRect l="0" t="0" r="0" b="0"/>
            </a:stretch>
          </a:blipFill>
        </p:spPr>
      </p:sp>
      <p:sp>
        <p:nvSpPr>
          <p:cNvPr name="Freeform 13" id="13"/>
          <p:cNvSpPr/>
          <p:nvPr/>
        </p:nvSpPr>
        <p:spPr>
          <a:xfrm flipH="false" flipV="false" rot="0">
            <a:off x="12511318" y="4071913"/>
            <a:ext cx="7154990" cy="3854747"/>
          </a:xfrm>
          <a:custGeom>
            <a:avLst/>
            <a:gdLst/>
            <a:ahLst/>
            <a:cxnLst/>
            <a:rect r="r" b="b" t="t" l="l"/>
            <a:pathLst>
              <a:path h="3854747" w="7154990">
                <a:moveTo>
                  <a:pt x="0" y="0"/>
                </a:moveTo>
                <a:lnTo>
                  <a:pt x="7154990" y="0"/>
                </a:lnTo>
                <a:lnTo>
                  <a:pt x="7154990" y="3854747"/>
                </a:lnTo>
                <a:lnTo>
                  <a:pt x="0" y="3854747"/>
                </a:lnTo>
                <a:lnTo>
                  <a:pt x="0" y="0"/>
                </a:lnTo>
                <a:close/>
              </a:path>
            </a:pathLst>
          </a:custGeom>
          <a:blipFill>
            <a:blip r:embed="rId6"/>
            <a:stretch>
              <a:fillRect l="0" t="0" r="-4878" b="-5019"/>
            </a:stretch>
          </a:blipFill>
        </p:spPr>
      </p:sp>
      <p:sp>
        <p:nvSpPr>
          <p:cNvPr name="Freeform 14" id="14"/>
          <p:cNvSpPr/>
          <p:nvPr/>
        </p:nvSpPr>
        <p:spPr>
          <a:xfrm flipH="false" flipV="false" rot="0">
            <a:off x="9633796" y="5143500"/>
            <a:ext cx="5116604" cy="2080217"/>
          </a:xfrm>
          <a:custGeom>
            <a:avLst/>
            <a:gdLst/>
            <a:ahLst/>
            <a:cxnLst/>
            <a:rect r="r" b="b" t="t" l="l"/>
            <a:pathLst>
              <a:path h="2080217" w="5116604">
                <a:moveTo>
                  <a:pt x="0" y="0"/>
                </a:moveTo>
                <a:lnTo>
                  <a:pt x="5116604" y="0"/>
                </a:lnTo>
                <a:lnTo>
                  <a:pt x="5116604" y="2080217"/>
                </a:lnTo>
                <a:lnTo>
                  <a:pt x="0" y="2080217"/>
                </a:lnTo>
                <a:lnTo>
                  <a:pt x="0" y="0"/>
                </a:lnTo>
                <a:close/>
              </a:path>
            </a:pathLst>
          </a:custGeom>
          <a:blipFill>
            <a:blip r:embed="rId7"/>
            <a:stretch>
              <a:fillRect l="0" t="0" r="0" b="0"/>
            </a:stretch>
          </a:blipFill>
        </p:spPr>
      </p:sp>
      <p:sp>
        <p:nvSpPr>
          <p:cNvPr name="Freeform 15" id="15"/>
          <p:cNvSpPr/>
          <p:nvPr/>
        </p:nvSpPr>
        <p:spPr>
          <a:xfrm flipH="false" flipV="false" rot="0">
            <a:off x="11785514" y="2035807"/>
            <a:ext cx="6939013" cy="2958153"/>
          </a:xfrm>
          <a:custGeom>
            <a:avLst/>
            <a:gdLst/>
            <a:ahLst/>
            <a:cxnLst/>
            <a:rect r="r" b="b" t="t" l="l"/>
            <a:pathLst>
              <a:path h="2958153" w="6939013">
                <a:moveTo>
                  <a:pt x="0" y="0"/>
                </a:moveTo>
                <a:lnTo>
                  <a:pt x="6939013" y="0"/>
                </a:lnTo>
                <a:lnTo>
                  <a:pt x="6939013" y="2958154"/>
                </a:lnTo>
                <a:lnTo>
                  <a:pt x="0" y="2958154"/>
                </a:lnTo>
                <a:lnTo>
                  <a:pt x="0" y="0"/>
                </a:lnTo>
                <a:close/>
              </a:path>
            </a:pathLst>
          </a:custGeom>
          <a:blipFill>
            <a:blip r:embed="rId8"/>
            <a:stretch>
              <a:fillRect l="0" t="0" r="0" b="0"/>
            </a:stretch>
          </a:blipFill>
        </p:spPr>
      </p:sp>
      <p:sp>
        <p:nvSpPr>
          <p:cNvPr name="Freeform 16" id="16"/>
          <p:cNvSpPr/>
          <p:nvPr/>
        </p:nvSpPr>
        <p:spPr>
          <a:xfrm flipH="false" flipV="false" rot="0">
            <a:off x="6306300" y="4536155"/>
            <a:ext cx="3327496" cy="3327496"/>
          </a:xfrm>
          <a:custGeom>
            <a:avLst/>
            <a:gdLst/>
            <a:ahLst/>
            <a:cxnLst/>
            <a:rect r="r" b="b" t="t" l="l"/>
            <a:pathLst>
              <a:path h="3327496" w="3327496">
                <a:moveTo>
                  <a:pt x="0" y="0"/>
                </a:moveTo>
                <a:lnTo>
                  <a:pt x="3327496" y="0"/>
                </a:lnTo>
                <a:lnTo>
                  <a:pt x="3327496" y="3327496"/>
                </a:lnTo>
                <a:lnTo>
                  <a:pt x="0" y="3327496"/>
                </a:lnTo>
                <a:lnTo>
                  <a:pt x="0" y="0"/>
                </a:lnTo>
                <a:close/>
              </a:path>
            </a:pathLst>
          </a:custGeom>
          <a:blipFill>
            <a:blip r:embed="rId9"/>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1472" y="327460"/>
            <a:ext cx="14125899" cy="992981"/>
            <a:chOff x="0" y="0"/>
            <a:chExt cx="18834532" cy="1323975"/>
          </a:xfrm>
        </p:grpSpPr>
        <p:sp>
          <p:nvSpPr>
            <p:cNvPr name="Freeform 3" id="3"/>
            <p:cNvSpPr/>
            <p:nvPr/>
          </p:nvSpPr>
          <p:spPr>
            <a:xfrm flipH="false" flipV="false" rot="0">
              <a:off x="0" y="0"/>
              <a:ext cx="18834481" cy="1323975"/>
            </a:xfrm>
            <a:custGeom>
              <a:avLst/>
              <a:gdLst/>
              <a:ahLst/>
              <a:cxnLst/>
              <a:rect r="r" b="b" t="t" l="l"/>
              <a:pathLst>
                <a:path h="1323975" w="18834481">
                  <a:moveTo>
                    <a:pt x="0" y="0"/>
                  </a:moveTo>
                  <a:lnTo>
                    <a:pt x="18834481" y="0"/>
                  </a:lnTo>
                  <a:lnTo>
                    <a:pt x="18834481" y="1323975"/>
                  </a:lnTo>
                  <a:lnTo>
                    <a:pt x="0" y="1323975"/>
                  </a:lnTo>
                  <a:close/>
                </a:path>
              </a:pathLst>
            </a:custGeom>
            <a:solidFill>
              <a:srgbClr val="C00000"/>
            </a:solidFill>
          </p:spPr>
        </p:sp>
        <p:sp>
          <p:nvSpPr>
            <p:cNvPr name="TextBox 4" id="4"/>
            <p:cNvSpPr txBox="true"/>
            <p:nvPr/>
          </p:nvSpPr>
          <p:spPr>
            <a:xfrm>
              <a:off x="0" y="-28575"/>
              <a:ext cx="18834532" cy="1352550"/>
            </a:xfrm>
            <a:prstGeom prst="rect">
              <a:avLst/>
            </a:prstGeom>
          </p:spPr>
          <p:txBody>
            <a:bodyPr anchor="ctr" rtlCol="false" tIns="50800" lIns="50800" bIns="50800" rIns="50800"/>
            <a:lstStyle/>
            <a:p>
              <a:pPr algn="ctr">
                <a:lnSpc>
                  <a:spcPts val="5759"/>
                </a:lnSpc>
              </a:pPr>
            </a:p>
            <a:p>
              <a:pPr algn="ctr">
                <a:lnSpc>
                  <a:spcPts val="5759"/>
                </a:lnSpc>
              </a:pPr>
              <a:r>
                <a:rPr lang="en-US" sz="4800" b="true">
                  <a:solidFill>
                    <a:srgbClr val="FFFFFF"/>
                  </a:solidFill>
                  <a:latin typeface="Times New Roman Bold"/>
                  <a:ea typeface="Times New Roman Bold"/>
                  <a:cs typeface="Times New Roman Bold"/>
                  <a:sym typeface="Times New Roman Bold"/>
                </a:rPr>
                <a:t>Goal Of Training</a:t>
              </a:r>
            </a:p>
            <a:p>
              <a:pPr algn="ctr">
                <a:lnSpc>
                  <a:spcPts val="5759"/>
                </a:lnSpc>
              </a:pPr>
            </a:p>
          </p:txBody>
        </p:sp>
      </p:grpSp>
      <p:grpSp>
        <p:nvGrpSpPr>
          <p:cNvPr name="Group 5" id="5"/>
          <p:cNvGrpSpPr/>
          <p:nvPr/>
        </p:nvGrpSpPr>
        <p:grpSpPr>
          <a:xfrm rot="0">
            <a:off x="0" y="9922669"/>
            <a:ext cx="18288000" cy="345281"/>
            <a:chOff x="0" y="0"/>
            <a:chExt cx="24384000" cy="460375"/>
          </a:xfrm>
        </p:grpSpPr>
        <p:sp>
          <p:nvSpPr>
            <p:cNvPr name="Freeform 6" id="6"/>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7" id="7"/>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8" id="8"/>
          <p:cNvGrpSpPr/>
          <p:nvPr/>
        </p:nvGrpSpPr>
        <p:grpSpPr>
          <a:xfrm rot="0">
            <a:off x="819979" y="169145"/>
            <a:ext cx="1700212" cy="1800225"/>
            <a:chOff x="0" y="0"/>
            <a:chExt cx="2266950" cy="2400300"/>
          </a:xfrm>
        </p:grpSpPr>
        <p:sp>
          <p:nvSpPr>
            <p:cNvPr name="Freeform 9" id="9"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10" id="10"/>
          <p:cNvSpPr txBox="true"/>
          <p:nvPr/>
        </p:nvSpPr>
        <p:spPr>
          <a:xfrm rot="0">
            <a:off x="3482912" y="1728749"/>
            <a:ext cx="13893679" cy="6572250"/>
          </a:xfrm>
          <a:prstGeom prst="rect">
            <a:avLst/>
          </a:prstGeom>
        </p:spPr>
        <p:txBody>
          <a:bodyPr anchor="t" rtlCol="false" tIns="0" lIns="0" bIns="0" rIns="0">
            <a:spAutoFit/>
          </a:bodyPr>
          <a:lstStyle/>
          <a:p>
            <a:pPr algn="l" marL="705802" indent="-352901" lvl="1">
              <a:lnSpc>
                <a:spcPts val="4680"/>
              </a:lnSpc>
              <a:buAutoNum type="arabicPeriod" startAt="1"/>
            </a:pPr>
            <a:r>
              <a:rPr lang="en-US" sz="3900">
                <a:solidFill>
                  <a:srgbClr val="000000"/>
                </a:solidFill>
                <a:latin typeface="Calibri (MS)"/>
                <a:ea typeface="Calibri (MS)"/>
                <a:cs typeface="Calibri (MS)"/>
                <a:sym typeface="Calibri (MS)"/>
              </a:rPr>
              <a:t>T</a:t>
            </a:r>
            <a:r>
              <a:rPr lang="en-US" sz="3900">
                <a:solidFill>
                  <a:srgbClr val="000000"/>
                </a:solidFill>
                <a:latin typeface="Calibri (MS)"/>
                <a:ea typeface="Calibri (MS)"/>
                <a:cs typeface="Calibri (MS)"/>
                <a:sym typeface="Calibri (MS)"/>
              </a:rPr>
              <a:t>o co</a:t>
            </a:r>
            <a:r>
              <a:rPr lang="en-US" sz="3900">
                <a:solidFill>
                  <a:srgbClr val="000000"/>
                </a:solidFill>
                <a:latin typeface="Calibri (MS)"/>
                <a:ea typeface="Calibri (MS)"/>
                <a:cs typeface="Calibri (MS)"/>
                <a:sym typeface="Calibri (MS)"/>
              </a:rPr>
              <a:t>nd</a:t>
            </a:r>
            <a:r>
              <a:rPr lang="en-US" sz="3900">
                <a:solidFill>
                  <a:srgbClr val="000000"/>
                </a:solidFill>
                <a:latin typeface="Calibri (MS)"/>
                <a:ea typeface="Calibri (MS)"/>
                <a:cs typeface="Calibri (MS)"/>
                <a:sym typeface="Calibri (MS)"/>
              </a:rPr>
              <a:t>uct re</a:t>
            </a:r>
            <a:r>
              <a:rPr lang="en-US" sz="3900">
                <a:solidFill>
                  <a:srgbClr val="000000"/>
                </a:solidFill>
                <a:latin typeface="Calibri (MS)"/>
                <a:ea typeface="Calibri (MS)"/>
                <a:cs typeface="Calibri (MS)"/>
                <a:sym typeface="Calibri (MS)"/>
              </a:rPr>
              <a:t>s</a:t>
            </a:r>
            <a:r>
              <a:rPr lang="en-US" sz="3900">
                <a:solidFill>
                  <a:srgbClr val="000000"/>
                </a:solidFill>
                <a:latin typeface="Calibri (MS)"/>
                <a:ea typeface="Calibri (MS)"/>
                <a:cs typeface="Calibri (MS)"/>
                <a:sym typeface="Calibri (MS)"/>
              </a:rPr>
              <a:t>earch </a:t>
            </a:r>
            <a:r>
              <a:rPr lang="en-US" sz="3900">
                <a:solidFill>
                  <a:srgbClr val="000000"/>
                </a:solidFill>
                <a:latin typeface="Calibri (MS)"/>
                <a:ea typeface="Calibri (MS)"/>
                <a:cs typeface="Calibri (MS)"/>
                <a:sym typeface="Calibri (MS)"/>
              </a:rPr>
              <a:t>on </a:t>
            </a:r>
            <a:r>
              <a:rPr lang="en-US" sz="3900">
                <a:solidFill>
                  <a:srgbClr val="000000"/>
                </a:solidFill>
                <a:latin typeface="Calibri (MS)"/>
                <a:ea typeface="Calibri (MS)"/>
                <a:cs typeface="Calibri (MS)"/>
                <a:sym typeface="Calibri (MS)"/>
              </a:rPr>
              <a:t>F</a:t>
            </a:r>
            <a:r>
              <a:rPr lang="en-US" sz="3900">
                <a:solidFill>
                  <a:srgbClr val="000000"/>
                </a:solidFill>
                <a:latin typeface="Calibri (MS)"/>
                <a:ea typeface="Calibri (MS)"/>
                <a:cs typeface="Calibri (MS)"/>
                <a:sym typeface="Calibri (MS)"/>
              </a:rPr>
              <a:t>e</a:t>
            </a:r>
            <a:r>
              <a:rPr lang="en-US" sz="3900">
                <a:solidFill>
                  <a:srgbClr val="000000"/>
                </a:solidFill>
                <a:latin typeface="Calibri (MS)"/>
                <a:ea typeface="Calibri (MS)"/>
                <a:cs typeface="Calibri (MS)"/>
                <a:sym typeface="Calibri (MS)"/>
              </a:rPr>
              <a:t>d</a:t>
            </a:r>
            <a:r>
              <a:rPr lang="en-US" sz="3900">
                <a:solidFill>
                  <a:srgbClr val="000000"/>
                </a:solidFill>
                <a:latin typeface="Calibri (MS)"/>
                <a:ea typeface="Calibri (MS)"/>
                <a:cs typeface="Calibri (MS)"/>
                <a:sym typeface="Calibri (MS)"/>
              </a:rPr>
              <a:t>er</a:t>
            </a:r>
            <a:r>
              <a:rPr lang="en-US" sz="3900">
                <a:solidFill>
                  <a:srgbClr val="000000"/>
                </a:solidFill>
                <a:latin typeface="Calibri (MS)"/>
                <a:ea typeface="Calibri (MS)"/>
                <a:cs typeface="Calibri (MS)"/>
                <a:sym typeface="Calibri (MS)"/>
              </a:rPr>
              <a:t>at</a:t>
            </a:r>
            <a:r>
              <a:rPr lang="en-US" sz="3900">
                <a:solidFill>
                  <a:srgbClr val="000000"/>
                </a:solidFill>
                <a:latin typeface="Calibri (MS)"/>
                <a:ea typeface="Calibri (MS)"/>
                <a:cs typeface="Calibri (MS)"/>
                <a:sym typeface="Calibri (MS)"/>
              </a:rPr>
              <a:t>e</a:t>
            </a:r>
            <a:r>
              <a:rPr lang="en-US" sz="3900">
                <a:solidFill>
                  <a:srgbClr val="000000"/>
                </a:solidFill>
                <a:latin typeface="Calibri (MS)"/>
                <a:ea typeface="Calibri (MS)"/>
                <a:cs typeface="Calibri (MS)"/>
                <a:sym typeface="Calibri (MS)"/>
              </a:rPr>
              <a:t>d Fi</a:t>
            </a:r>
            <a:r>
              <a:rPr lang="en-US" sz="3900">
                <a:solidFill>
                  <a:srgbClr val="000000"/>
                </a:solidFill>
                <a:latin typeface="Calibri (MS)"/>
                <a:ea typeface="Calibri (MS)"/>
                <a:cs typeface="Calibri (MS)"/>
                <a:sym typeface="Calibri (MS)"/>
              </a:rPr>
              <a:t>ne</a:t>
            </a:r>
            <a:r>
              <a:rPr lang="en-US" sz="3900">
                <a:solidFill>
                  <a:srgbClr val="000000"/>
                </a:solidFill>
                <a:latin typeface="Calibri (MS)"/>
                <a:ea typeface="Calibri (MS)"/>
                <a:cs typeface="Calibri (MS)"/>
                <a:sym typeface="Calibri (MS)"/>
              </a:rPr>
              <a:t>-Tun</a:t>
            </a:r>
            <a:r>
              <a:rPr lang="en-US" sz="3900">
                <a:solidFill>
                  <a:srgbClr val="000000"/>
                </a:solidFill>
                <a:latin typeface="Calibri (MS)"/>
                <a:ea typeface="Calibri (MS)"/>
                <a:cs typeface="Calibri (MS)"/>
                <a:sym typeface="Calibri (MS)"/>
              </a:rPr>
              <a:t>i</a:t>
            </a:r>
            <a:r>
              <a:rPr lang="en-US" sz="3900">
                <a:solidFill>
                  <a:srgbClr val="000000"/>
                </a:solidFill>
                <a:latin typeface="Calibri (MS)"/>
                <a:ea typeface="Calibri (MS)"/>
                <a:cs typeface="Calibri (MS)"/>
                <a:sym typeface="Calibri (MS)"/>
              </a:rPr>
              <a:t>ng</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o</a:t>
            </a:r>
            <a:r>
              <a:rPr lang="en-US" sz="3900">
                <a:solidFill>
                  <a:srgbClr val="000000"/>
                </a:solidFill>
                <a:latin typeface="Calibri (MS)"/>
                <a:ea typeface="Calibri (MS)"/>
                <a:cs typeface="Calibri (MS)"/>
                <a:sym typeface="Calibri (MS)"/>
              </a:rPr>
              <a:t>f</a:t>
            </a:r>
            <a:r>
              <a:rPr lang="en-US" sz="3900">
                <a:solidFill>
                  <a:srgbClr val="000000"/>
                </a:solidFill>
                <a:latin typeface="Calibri (MS)"/>
                <a:ea typeface="Calibri (MS)"/>
                <a:cs typeface="Calibri (MS)"/>
                <a:sym typeface="Calibri (MS)"/>
              </a:rPr>
              <a:t> L</a:t>
            </a:r>
            <a:r>
              <a:rPr lang="en-US" sz="3900">
                <a:solidFill>
                  <a:srgbClr val="000000"/>
                </a:solidFill>
                <a:latin typeface="Calibri (MS)"/>
                <a:ea typeface="Calibri (MS)"/>
                <a:cs typeface="Calibri (MS)"/>
                <a:sym typeface="Calibri (MS)"/>
              </a:rPr>
              <a:t>a</a:t>
            </a:r>
            <a:r>
              <a:rPr lang="en-US" sz="3900">
                <a:solidFill>
                  <a:srgbClr val="000000"/>
                </a:solidFill>
                <a:latin typeface="Calibri (MS)"/>
                <a:ea typeface="Calibri (MS)"/>
                <a:cs typeface="Calibri (MS)"/>
                <a:sym typeface="Calibri (MS)"/>
              </a:rPr>
              <a:t>rge</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Languag</a:t>
            </a:r>
            <a:r>
              <a:rPr lang="en-US" sz="3900">
                <a:solidFill>
                  <a:srgbClr val="000000"/>
                </a:solidFill>
                <a:latin typeface="Calibri (MS)"/>
                <a:ea typeface="Calibri (MS)"/>
                <a:cs typeface="Calibri (MS)"/>
                <a:sym typeface="Calibri (MS)"/>
              </a:rPr>
              <a:t>e </a:t>
            </a:r>
            <a:r>
              <a:rPr lang="en-US" sz="3900">
                <a:solidFill>
                  <a:srgbClr val="000000"/>
                </a:solidFill>
                <a:latin typeface="Calibri (MS)"/>
                <a:ea typeface="Calibri (MS)"/>
                <a:cs typeface="Calibri (MS)"/>
                <a:sym typeface="Calibri (MS)"/>
              </a:rPr>
              <a:t>Mo</a:t>
            </a:r>
            <a:r>
              <a:rPr lang="en-US" sz="3900">
                <a:solidFill>
                  <a:srgbClr val="000000"/>
                </a:solidFill>
                <a:latin typeface="Calibri (MS)"/>
                <a:ea typeface="Calibri (MS)"/>
                <a:cs typeface="Calibri (MS)"/>
                <a:sym typeface="Calibri (MS)"/>
              </a:rPr>
              <a:t>del</a:t>
            </a:r>
            <a:r>
              <a:rPr lang="en-US" sz="3900">
                <a:solidFill>
                  <a:srgbClr val="000000"/>
                </a:solidFill>
                <a:latin typeface="Calibri (MS)"/>
                <a:ea typeface="Calibri (MS)"/>
                <a:cs typeface="Calibri (MS)"/>
                <a:sym typeface="Calibri (MS)"/>
              </a:rPr>
              <a:t>s (LLMs) and S</a:t>
            </a:r>
            <a:r>
              <a:rPr lang="en-US" sz="3900">
                <a:solidFill>
                  <a:srgbClr val="000000"/>
                </a:solidFill>
                <a:latin typeface="Calibri (MS)"/>
                <a:ea typeface="Calibri (MS)"/>
                <a:cs typeface="Calibri (MS)"/>
                <a:sym typeface="Calibri (MS)"/>
              </a:rPr>
              <a:t>m</a:t>
            </a:r>
            <a:r>
              <a:rPr lang="en-US" sz="3900">
                <a:solidFill>
                  <a:srgbClr val="000000"/>
                </a:solidFill>
                <a:latin typeface="Calibri (MS)"/>
                <a:ea typeface="Calibri (MS)"/>
                <a:cs typeface="Calibri (MS)"/>
                <a:sym typeface="Calibri (MS)"/>
              </a:rPr>
              <a:t>all Language Models (SL</a:t>
            </a:r>
            <a:r>
              <a:rPr lang="en-US" sz="3900">
                <a:solidFill>
                  <a:srgbClr val="000000"/>
                </a:solidFill>
                <a:latin typeface="Calibri (MS)"/>
                <a:ea typeface="Calibri (MS)"/>
                <a:cs typeface="Calibri (MS)"/>
                <a:sym typeface="Calibri (MS)"/>
              </a:rPr>
              <a:t>M</a:t>
            </a:r>
            <a:r>
              <a:rPr lang="en-US" sz="3900">
                <a:solidFill>
                  <a:srgbClr val="000000"/>
                </a:solidFill>
                <a:latin typeface="Calibri (MS)"/>
                <a:ea typeface="Calibri (MS)"/>
                <a:cs typeface="Calibri (MS)"/>
                <a:sym typeface="Calibri (MS)"/>
              </a:rPr>
              <a:t>s).</a:t>
            </a:r>
          </a:p>
          <a:p>
            <a:pPr algn="l" marL="705802" indent="-352901" lvl="1">
              <a:lnSpc>
                <a:spcPts val="4680"/>
              </a:lnSpc>
              <a:buAutoNum type="arabicPeriod" startAt="1"/>
            </a:pPr>
            <a:r>
              <a:rPr lang="en-US" sz="3900">
                <a:solidFill>
                  <a:srgbClr val="000000"/>
                </a:solidFill>
                <a:latin typeface="Calibri (MS)"/>
                <a:ea typeface="Calibri (MS)"/>
                <a:cs typeface="Calibri (MS)"/>
                <a:sym typeface="Calibri (MS)"/>
              </a:rPr>
              <a:t>To</a:t>
            </a:r>
            <a:r>
              <a:rPr lang="en-US" sz="3900">
                <a:solidFill>
                  <a:srgbClr val="000000"/>
                </a:solidFill>
                <a:latin typeface="Calibri (MS)"/>
                <a:ea typeface="Calibri (MS)"/>
                <a:cs typeface="Calibri (MS)"/>
                <a:sym typeface="Calibri (MS)"/>
              </a:rPr>
              <a:t> st</a:t>
            </a:r>
            <a:r>
              <a:rPr lang="en-US" sz="3900">
                <a:solidFill>
                  <a:srgbClr val="000000"/>
                </a:solidFill>
                <a:latin typeface="Calibri (MS)"/>
                <a:ea typeface="Calibri (MS)"/>
                <a:cs typeface="Calibri (MS)"/>
                <a:sym typeface="Calibri (MS)"/>
              </a:rPr>
              <a:t>udy </a:t>
            </a:r>
            <a:r>
              <a:rPr lang="en-US" sz="3900">
                <a:solidFill>
                  <a:srgbClr val="000000"/>
                </a:solidFill>
                <a:latin typeface="Calibri (MS)"/>
                <a:ea typeface="Calibri (MS)"/>
                <a:cs typeface="Calibri (MS)"/>
                <a:sym typeface="Calibri (MS)"/>
              </a:rPr>
              <a:t>a</a:t>
            </a:r>
            <a:r>
              <a:rPr lang="en-US" sz="3900">
                <a:solidFill>
                  <a:srgbClr val="000000"/>
                </a:solidFill>
                <a:latin typeface="Calibri (MS)"/>
                <a:ea typeface="Calibri (MS)"/>
                <a:cs typeface="Calibri (MS)"/>
                <a:sym typeface="Calibri (MS)"/>
              </a:rPr>
              <a:t>nd</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impleme</a:t>
            </a:r>
            <a:r>
              <a:rPr lang="en-US" sz="3900">
                <a:solidFill>
                  <a:srgbClr val="000000"/>
                </a:solidFill>
                <a:latin typeface="Calibri (MS)"/>
                <a:ea typeface="Calibri (MS)"/>
                <a:cs typeface="Calibri (MS)"/>
                <a:sym typeface="Calibri (MS)"/>
              </a:rPr>
              <a:t>n</a:t>
            </a:r>
            <a:r>
              <a:rPr lang="en-US" sz="3900">
                <a:solidFill>
                  <a:srgbClr val="000000"/>
                </a:solidFill>
                <a:latin typeface="Calibri (MS)"/>
                <a:ea typeface="Calibri (MS)"/>
                <a:cs typeface="Calibri (MS)"/>
                <a:sym typeface="Calibri (MS)"/>
              </a:rPr>
              <a:t>t</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P</a:t>
            </a:r>
            <a:r>
              <a:rPr lang="en-US" sz="3900">
                <a:solidFill>
                  <a:srgbClr val="000000"/>
                </a:solidFill>
                <a:latin typeface="Calibri (MS)"/>
                <a:ea typeface="Calibri (MS)"/>
                <a:cs typeface="Calibri (MS)"/>
                <a:sym typeface="Calibri (MS)"/>
              </a:rPr>
              <a:t>E</a:t>
            </a:r>
            <a:r>
              <a:rPr lang="en-US" sz="3900">
                <a:solidFill>
                  <a:srgbClr val="000000"/>
                </a:solidFill>
                <a:latin typeface="Calibri (MS)"/>
                <a:ea typeface="Calibri (MS)"/>
                <a:cs typeface="Calibri (MS)"/>
                <a:sym typeface="Calibri (MS)"/>
              </a:rPr>
              <a:t>FT techniqu</a:t>
            </a:r>
            <a:r>
              <a:rPr lang="en-US" sz="3900">
                <a:solidFill>
                  <a:srgbClr val="000000"/>
                </a:solidFill>
                <a:latin typeface="Calibri (MS)"/>
                <a:ea typeface="Calibri (MS)"/>
                <a:cs typeface="Calibri (MS)"/>
                <a:sym typeface="Calibri (MS)"/>
              </a:rPr>
              <a:t>es</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s</a:t>
            </a:r>
            <a:r>
              <a:rPr lang="en-US" sz="3900">
                <a:solidFill>
                  <a:srgbClr val="000000"/>
                </a:solidFill>
                <a:latin typeface="Calibri (MS)"/>
                <a:ea typeface="Calibri (MS)"/>
                <a:cs typeface="Calibri (MS)"/>
                <a:sym typeface="Calibri (MS)"/>
              </a:rPr>
              <a:t>uch</a:t>
            </a:r>
            <a:r>
              <a:rPr lang="en-US" sz="3900">
                <a:solidFill>
                  <a:srgbClr val="000000"/>
                </a:solidFill>
                <a:latin typeface="Calibri (MS)"/>
                <a:ea typeface="Calibri (MS)"/>
                <a:cs typeface="Calibri (MS)"/>
                <a:sym typeface="Calibri (MS)"/>
              </a:rPr>
              <a:t> as </a:t>
            </a:r>
            <a:r>
              <a:rPr lang="en-US" sz="3900">
                <a:solidFill>
                  <a:srgbClr val="000000"/>
                </a:solidFill>
                <a:latin typeface="Calibri (MS)"/>
                <a:ea typeface="Calibri (MS)"/>
                <a:cs typeface="Calibri (MS)"/>
                <a:sym typeface="Calibri (MS)"/>
              </a:rPr>
              <a:t>L</a:t>
            </a:r>
            <a:r>
              <a:rPr lang="en-US" sz="3900">
                <a:solidFill>
                  <a:srgbClr val="000000"/>
                </a:solidFill>
                <a:latin typeface="Calibri (MS)"/>
                <a:ea typeface="Calibri (MS)"/>
                <a:cs typeface="Calibri (MS)"/>
                <a:sym typeface="Calibri (MS)"/>
              </a:rPr>
              <a:t>o</a:t>
            </a:r>
            <a:r>
              <a:rPr lang="en-US" sz="3900">
                <a:solidFill>
                  <a:srgbClr val="000000"/>
                </a:solidFill>
                <a:latin typeface="Calibri (MS)"/>
                <a:ea typeface="Calibri (MS)"/>
                <a:cs typeface="Calibri (MS)"/>
                <a:sym typeface="Calibri (MS)"/>
              </a:rPr>
              <a:t>RA and its variants for efficient model adaptation.</a:t>
            </a:r>
          </a:p>
          <a:p>
            <a:pPr algn="l" marL="705802" indent="-352901" lvl="1">
              <a:lnSpc>
                <a:spcPts val="4680"/>
              </a:lnSpc>
              <a:buAutoNum type="arabicPeriod" startAt="1"/>
            </a:pPr>
            <a:r>
              <a:rPr lang="en-US" sz="3900">
                <a:solidFill>
                  <a:srgbClr val="000000"/>
                </a:solidFill>
                <a:latin typeface="Calibri (MS)"/>
                <a:ea typeface="Calibri (MS)"/>
                <a:cs typeface="Calibri (MS)"/>
                <a:sym typeface="Calibri (MS)"/>
              </a:rPr>
              <a:t>To explor</a:t>
            </a:r>
            <a:r>
              <a:rPr lang="en-US" sz="3900">
                <a:solidFill>
                  <a:srgbClr val="000000"/>
                </a:solidFill>
                <a:latin typeface="Calibri (MS)"/>
                <a:ea typeface="Calibri (MS)"/>
                <a:cs typeface="Calibri (MS)"/>
                <a:sym typeface="Calibri (MS)"/>
              </a:rPr>
              <a:t>e com</a:t>
            </a:r>
            <a:r>
              <a:rPr lang="en-US" sz="3900">
                <a:solidFill>
                  <a:srgbClr val="000000"/>
                </a:solidFill>
                <a:latin typeface="Calibri (MS)"/>
                <a:ea typeface="Calibri (MS)"/>
                <a:cs typeface="Calibri (MS)"/>
                <a:sym typeface="Calibri (MS)"/>
              </a:rPr>
              <a:t>mu</a:t>
            </a:r>
            <a:r>
              <a:rPr lang="en-US" sz="3900">
                <a:solidFill>
                  <a:srgbClr val="000000"/>
                </a:solidFill>
                <a:latin typeface="Calibri (MS)"/>
                <a:ea typeface="Calibri (MS)"/>
                <a:cs typeface="Calibri (MS)"/>
                <a:sym typeface="Calibri (MS)"/>
              </a:rPr>
              <a:t>n</a:t>
            </a:r>
            <a:r>
              <a:rPr lang="en-US" sz="3900">
                <a:solidFill>
                  <a:srgbClr val="000000"/>
                </a:solidFill>
                <a:latin typeface="Calibri (MS)"/>
                <a:ea typeface="Calibri (MS)"/>
                <a:cs typeface="Calibri (MS)"/>
                <a:sym typeface="Calibri (MS)"/>
              </a:rPr>
              <a:t>ica</a:t>
            </a:r>
            <a:r>
              <a:rPr lang="en-US" sz="3900">
                <a:solidFill>
                  <a:srgbClr val="000000"/>
                </a:solidFill>
                <a:latin typeface="Calibri (MS)"/>
                <a:ea typeface="Calibri (MS)"/>
                <a:cs typeface="Calibri (MS)"/>
                <a:sym typeface="Calibri (MS)"/>
              </a:rPr>
              <a:t>t</a:t>
            </a:r>
            <a:r>
              <a:rPr lang="en-US" sz="3900">
                <a:solidFill>
                  <a:srgbClr val="000000"/>
                </a:solidFill>
                <a:latin typeface="Calibri (MS)"/>
                <a:ea typeface="Calibri (MS)"/>
                <a:cs typeface="Calibri (MS)"/>
                <a:sym typeface="Calibri (MS)"/>
              </a:rPr>
              <a:t>ion-efficient a</a:t>
            </a:r>
            <a:r>
              <a:rPr lang="en-US" sz="3900">
                <a:solidFill>
                  <a:srgbClr val="000000"/>
                </a:solidFill>
                <a:latin typeface="Calibri (MS)"/>
                <a:ea typeface="Calibri (MS)"/>
                <a:cs typeface="Calibri (MS)"/>
                <a:sym typeface="Calibri (MS)"/>
              </a:rPr>
              <a:t>gg</a:t>
            </a:r>
            <a:r>
              <a:rPr lang="en-US" sz="3900">
                <a:solidFill>
                  <a:srgbClr val="000000"/>
                </a:solidFill>
                <a:latin typeface="Calibri (MS)"/>
                <a:ea typeface="Calibri (MS)"/>
                <a:cs typeface="Calibri (MS)"/>
                <a:sym typeface="Calibri (MS)"/>
              </a:rPr>
              <a:t>re</a:t>
            </a:r>
            <a:r>
              <a:rPr lang="en-US" sz="3900">
                <a:solidFill>
                  <a:srgbClr val="000000"/>
                </a:solidFill>
                <a:latin typeface="Calibri (MS)"/>
                <a:ea typeface="Calibri (MS)"/>
                <a:cs typeface="Calibri (MS)"/>
                <a:sym typeface="Calibri (MS)"/>
              </a:rPr>
              <a:t>g</a:t>
            </a:r>
            <a:r>
              <a:rPr lang="en-US" sz="3900">
                <a:solidFill>
                  <a:srgbClr val="000000"/>
                </a:solidFill>
                <a:latin typeface="Calibri (MS)"/>
                <a:ea typeface="Calibri (MS)"/>
                <a:cs typeface="Calibri (MS)"/>
                <a:sym typeface="Calibri (MS)"/>
              </a:rPr>
              <a:t>a</a:t>
            </a:r>
            <a:r>
              <a:rPr lang="en-US" sz="3900">
                <a:solidFill>
                  <a:srgbClr val="000000"/>
                </a:solidFill>
                <a:latin typeface="Calibri (MS)"/>
                <a:ea typeface="Calibri (MS)"/>
                <a:cs typeface="Calibri (MS)"/>
                <a:sym typeface="Calibri (MS)"/>
              </a:rPr>
              <a:t>ti</a:t>
            </a:r>
            <a:r>
              <a:rPr lang="en-US" sz="3900">
                <a:solidFill>
                  <a:srgbClr val="000000"/>
                </a:solidFill>
                <a:latin typeface="Calibri (MS)"/>
                <a:ea typeface="Calibri (MS)"/>
                <a:cs typeface="Calibri (MS)"/>
                <a:sym typeface="Calibri (MS)"/>
              </a:rPr>
              <a:t>o</a:t>
            </a:r>
            <a:r>
              <a:rPr lang="en-US" sz="3900">
                <a:solidFill>
                  <a:srgbClr val="000000"/>
                </a:solidFill>
                <a:latin typeface="Calibri (MS)"/>
                <a:ea typeface="Calibri (MS)"/>
                <a:cs typeface="Calibri (MS)"/>
                <a:sym typeface="Calibri (MS)"/>
              </a:rPr>
              <a:t>n al</a:t>
            </a:r>
            <a:r>
              <a:rPr lang="en-US" sz="3900">
                <a:solidFill>
                  <a:srgbClr val="000000"/>
                </a:solidFill>
                <a:latin typeface="Calibri (MS)"/>
                <a:ea typeface="Calibri (MS)"/>
                <a:cs typeface="Calibri (MS)"/>
                <a:sym typeface="Calibri (MS)"/>
              </a:rPr>
              <a:t>gor</a:t>
            </a:r>
            <a:r>
              <a:rPr lang="en-US" sz="3900">
                <a:solidFill>
                  <a:srgbClr val="000000"/>
                </a:solidFill>
                <a:latin typeface="Calibri (MS)"/>
                <a:ea typeface="Calibri (MS)"/>
                <a:cs typeface="Calibri (MS)"/>
                <a:sym typeface="Calibri (MS)"/>
              </a:rPr>
              <a:t>i</a:t>
            </a:r>
            <a:r>
              <a:rPr lang="en-US" sz="3900">
                <a:solidFill>
                  <a:srgbClr val="000000"/>
                </a:solidFill>
                <a:latin typeface="Calibri (MS)"/>
                <a:ea typeface="Calibri (MS)"/>
                <a:cs typeface="Calibri (MS)"/>
                <a:sym typeface="Calibri (MS)"/>
              </a:rPr>
              <a:t>thm</a:t>
            </a:r>
            <a:r>
              <a:rPr lang="en-US" sz="3900">
                <a:solidFill>
                  <a:srgbClr val="000000"/>
                </a:solidFill>
                <a:latin typeface="Calibri (MS)"/>
                <a:ea typeface="Calibri (MS)"/>
                <a:cs typeface="Calibri (MS)"/>
                <a:sym typeface="Calibri (MS)"/>
              </a:rPr>
              <a:t>s</a:t>
            </a:r>
            <a:r>
              <a:rPr lang="en-US" sz="3900">
                <a:solidFill>
                  <a:srgbClr val="000000"/>
                </a:solidFill>
                <a:latin typeface="Calibri (MS)"/>
                <a:ea typeface="Calibri (MS)"/>
                <a:cs typeface="Calibri (MS)"/>
                <a:sym typeface="Calibri (MS)"/>
              </a:rPr>
              <a:t> for fed</a:t>
            </a:r>
            <a:r>
              <a:rPr lang="en-US" sz="3900">
                <a:solidFill>
                  <a:srgbClr val="000000"/>
                </a:solidFill>
                <a:latin typeface="Calibri (MS)"/>
                <a:ea typeface="Calibri (MS)"/>
                <a:cs typeface="Calibri (MS)"/>
                <a:sym typeface="Calibri (MS)"/>
              </a:rPr>
              <a:t>er</a:t>
            </a:r>
            <a:r>
              <a:rPr lang="en-US" sz="3900">
                <a:solidFill>
                  <a:srgbClr val="000000"/>
                </a:solidFill>
                <a:latin typeface="Calibri (MS)"/>
                <a:ea typeface="Calibri (MS)"/>
                <a:cs typeface="Calibri (MS)"/>
                <a:sym typeface="Calibri (MS)"/>
              </a:rPr>
              <a:t>at</a:t>
            </a:r>
            <a:r>
              <a:rPr lang="en-US" sz="3900">
                <a:solidFill>
                  <a:srgbClr val="000000"/>
                </a:solidFill>
                <a:latin typeface="Calibri (MS)"/>
                <a:ea typeface="Calibri (MS)"/>
                <a:cs typeface="Calibri (MS)"/>
                <a:sym typeface="Calibri (MS)"/>
              </a:rPr>
              <a:t>e</a:t>
            </a:r>
            <a:r>
              <a:rPr lang="en-US" sz="3900">
                <a:solidFill>
                  <a:srgbClr val="000000"/>
                </a:solidFill>
                <a:latin typeface="Calibri (MS)"/>
                <a:ea typeface="Calibri (MS)"/>
                <a:cs typeface="Calibri (MS)"/>
                <a:sym typeface="Calibri (MS)"/>
              </a:rPr>
              <a:t>d</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learning.</a:t>
            </a:r>
          </a:p>
          <a:p>
            <a:pPr algn="l" marL="705802" indent="-352901" lvl="1">
              <a:lnSpc>
                <a:spcPts val="4680"/>
              </a:lnSpc>
              <a:buAutoNum type="arabicPeriod" startAt="1"/>
            </a:pPr>
            <a:r>
              <a:rPr lang="en-US" sz="3900">
                <a:solidFill>
                  <a:srgbClr val="000000"/>
                </a:solidFill>
                <a:latin typeface="Calibri (MS)"/>
                <a:ea typeface="Calibri (MS)"/>
                <a:cs typeface="Calibri (MS)"/>
                <a:sym typeface="Calibri (MS)"/>
              </a:rPr>
              <a:t>To ev</a:t>
            </a:r>
            <a:r>
              <a:rPr lang="en-US" sz="3900">
                <a:solidFill>
                  <a:srgbClr val="000000"/>
                </a:solidFill>
                <a:latin typeface="Calibri (MS)"/>
                <a:ea typeface="Calibri (MS)"/>
                <a:cs typeface="Calibri (MS)"/>
                <a:sym typeface="Calibri (MS)"/>
              </a:rPr>
              <a:t>al</a:t>
            </a:r>
            <a:r>
              <a:rPr lang="en-US" sz="3900">
                <a:solidFill>
                  <a:srgbClr val="000000"/>
                </a:solidFill>
                <a:latin typeface="Calibri (MS)"/>
                <a:ea typeface="Calibri (MS)"/>
                <a:cs typeface="Calibri (MS)"/>
                <a:sym typeface="Calibri (MS)"/>
              </a:rPr>
              <a:t>ua</a:t>
            </a:r>
            <a:r>
              <a:rPr lang="en-US" sz="3900">
                <a:solidFill>
                  <a:srgbClr val="000000"/>
                </a:solidFill>
                <a:latin typeface="Calibri (MS)"/>
                <a:ea typeface="Calibri (MS)"/>
                <a:cs typeface="Calibri (MS)"/>
                <a:sym typeface="Calibri (MS)"/>
              </a:rPr>
              <a:t>te fe</a:t>
            </a:r>
            <a:r>
              <a:rPr lang="en-US" sz="3900">
                <a:solidFill>
                  <a:srgbClr val="000000"/>
                </a:solidFill>
                <a:latin typeface="Calibri (MS)"/>
                <a:ea typeface="Calibri (MS)"/>
                <a:cs typeface="Calibri (MS)"/>
                <a:sym typeface="Calibri (MS)"/>
              </a:rPr>
              <a:t>der</a:t>
            </a:r>
            <a:r>
              <a:rPr lang="en-US" sz="3900">
                <a:solidFill>
                  <a:srgbClr val="000000"/>
                </a:solidFill>
                <a:latin typeface="Calibri (MS)"/>
                <a:ea typeface="Calibri (MS)"/>
                <a:cs typeface="Calibri (MS)"/>
                <a:sym typeface="Calibri (MS)"/>
              </a:rPr>
              <a:t>ate</a:t>
            </a:r>
            <a:r>
              <a:rPr lang="en-US" sz="3900">
                <a:solidFill>
                  <a:srgbClr val="000000"/>
                </a:solidFill>
                <a:latin typeface="Calibri (MS)"/>
                <a:ea typeface="Calibri (MS)"/>
                <a:cs typeface="Calibri (MS)"/>
                <a:sym typeface="Calibri (MS)"/>
              </a:rPr>
              <a:t>d learning m</a:t>
            </a:r>
            <a:r>
              <a:rPr lang="en-US" sz="3900">
                <a:solidFill>
                  <a:srgbClr val="000000"/>
                </a:solidFill>
                <a:latin typeface="Calibri (MS)"/>
                <a:ea typeface="Calibri (MS)"/>
                <a:cs typeface="Calibri (MS)"/>
                <a:sym typeface="Calibri (MS)"/>
              </a:rPr>
              <a:t>et</a:t>
            </a:r>
            <a:r>
              <a:rPr lang="en-US" sz="3900">
                <a:solidFill>
                  <a:srgbClr val="000000"/>
                </a:solidFill>
                <a:latin typeface="Calibri (MS)"/>
                <a:ea typeface="Calibri (MS)"/>
                <a:cs typeface="Calibri (MS)"/>
                <a:sym typeface="Calibri (MS)"/>
              </a:rPr>
              <a:t>h</a:t>
            </a:r>
            <a:r>
              <a:rPr lang="en-US" sz="3900">
                <a:solidFill>
                  <a:srgbClr val="000000"/>
                </a:solidFill>
                <a:latin typeface="Calibri (MS)"/>
                <a:ea typeface="Calibri (MS)"/>
                <a:cs typeface="Calibri (MS)"/>
                <a:sym typeface="Calibri (MS)"/>
              </a:rPr>
              <a:t>o</a:t>
            </a:r>
            <a:r>
              <a:rPr lang="en-US" sz="3900">
                <a:solidFill>
                  <a:srgbClr val="000000"/>
                </a:solidFill>
                <a:latin typeface="Calibri (MS)"/>
                <a:ea typeface="Calibri (MS)"/>
                <a:cs typeface="Calibri (MS)"/>
                <a:sym typeface="Calibri (MS)"/>
              </a:rPr>
              <a:t>ds under IID and non-IID data distributions.</a:t>
            </a:r>
          </a:p>
          <a:p>
            <a:pPr algn="l" marL="705802" indent="-352901" lvl="1">
              <a:lnSpc>
                <a:spcPts val="4680"/>
              </a:lnSpc>
              <a:buAutoNum type="arabicPeriod" startAt="1"/>
            </a:pPr>
            <a:r>
              <a:rPr lang="en-US" sz="3900">
                <a:solidFill>
                  <a:srgbClr val="000000"/>
                </a:solidFill>
                <a:latin typeface="Calibri (MS)"/>
                <a:ea typeface="Calibri (MS)"/>
                <a:cs typeface="Calibri (MS)"/>
                <a:sym typeface="Calibri (MS)"/>
              </a:rPr>
              <a:t>To develop </a:t>
            </a:r>
            <a:r>
              <a:rPr lang="en-US" sz="3900">
                <a:solidFill>
                  <a:srgbClr val="000000"/>
                </a:solidFill>
                <a:latin typeface="Calibri (MS)"/>
                <a:ea typeface="Calibri (MS)"/>
                <a:cs typeface="Calibri (MS)"/>
                <a:sym typeface="Calibri (MS)"/>
              </a:rPr>
              <a:t>res</a:t>
            </a:r>
            <a:r>
              <a:rPr lang="en-US" sz="3900">
                <a:solidFill>
                  <a:srgbClr val="000000"/>
                </a:solidFill>
                <a:latin typeface="Calibri (MS)"/>
                <a:ea typeface="Calibri (MS)"/>
                <a:cs typeface="Calibri (MS)"/>
                <a:sym typeface="Calibri (MS)"/>
              </a:rPr>
              <a:t>e</a:t>
            </a:r>
            <a:r>
              <a:rPr lang="en-US" sz="3900">
                <a:solidFill>
                  <a:srgbClr val="000000"/>
                </a:solidFill>
                <a:latin typeface="Calibri (MS)"/>
                <a:ea typeface="Calibri (MS)"/>
                <a:cs typeface="Calibri (MS)"/>
                <a:sym typeface="Calibri (MS)"/>
              </a:rPr>
              <a:t>a</a:t>
            </a:r>
            <a:r>
              <a:rPr lang="en-US" sz="3900">
                <a:solidFill>
                  <a:srgbClr val="000000"/>
                </a:solidFill>
                <a:latin typeface="Calibri (MS)"/>
                <a:ea typeface="Calibri (MS)"/>
                <a:cs typeface="Calibri (MS)"/>
                <a:sym typeface="Calibri (MS)"/>
              </a:rPr>
              <a:t>rch</a:t>
            </a:r>
            <a:r>
              <a:rPr lang="en-US" sz="3900">
                <a:solidFill>
                  <a:srgbClr val="000000"/>
                </a:solidFill>
                <a:latin typeface="Calibri (MS)"/>
                <a:ea typeface="Calibri (MS)"/>
                <a:cs typeface="Calibri (MS)"/>
                <a:sym typeface="Calibri (MS)"/>
              </a:rPr>
              <a:t> skills</a:t>
            </a:r>
            <a:r>
              <a:rPr lang="en-US" sz="3900">
                <a:solidFill>
                  <a:srgbClr val="000000"/>
                </a:solidFill>
                <a:latin typeface="Calibri (MS)"/>
                <a:ea typeface="Calibri (MS)"/>
                <a:cs typeface="Calibri (MS)"/>
                <a:sym typeface="Calibri (MS)"/>
              </a:rPr>
              <a:t> </a:t>
            </a:r>
            <a:r>
              <a:rPr lang="en-US" sz="3900">
                <a:solidFill>
                  <a:srgbClr val="000000"/>
                </a:solidFill>
                <a:latin typeface="Calibri (MS)"/>
                <a:ea typeface="Calibri (MS)"/>
                <a:cs typeface="Calibri (MS)"/>
                <a:sym typeface="Calibri (MS)"/>
              </a:rPr>
              <a:t>t</a:t>
            </a:r>
            <a:r>
              <a:rPr lang="en-US" sz="3900">
                <a:solidFill>
                  <a:srgbClr val="000000"/>
                </a:solidFill>
                <a:latin typeface="Calibri (MS)"/>
                <a:ea typeface="Calibri (MS)"/>
                <a:cs typeface="Calibri (MS)"/>
                <a:sym typeface="Calibri (MS)"/>
              </a:rPr>
              <a:t>h</a:t>
            </a:r>
            <a:r>
              <a:rPr lang="en-US" sz="3900">
                <a:solidFill>
                  <a:srgbClr val="000000"/>
                </a:solidFill>
                <a:latin typeface="Calibri (MS)"/>
                <a:ea typeface="Calibri (MS)"/>
                <a:cs typeface="Calibri (MS)"/>
                <a:sym typeface="Calibri (MS)"/>
              </a:rPr>
              <a:t>rou</a:t>
            </a:r>
            <a:r>
              <a:rPr lang="en-US" sz="3900">
                <a:solidFill>
                  <a:srgbClr val="000000"/>
                </a:solidFill>
                <a:latin typeface="Calibri (MS)"/>
                <a:ea typeface="Calibri (MS)"/>
                <a:cs typeface="Calibri (MS)"/>
                <a:sym typeface="Calibri (MS)"/>
              </a:rPr>
              <a:t>gh</a:t>
            </a:r>
            <a:r>
              <a:rPr lang="en-US" sz="3900">
                <a:solidFill>
                  <a:srgbClr val="000000"/>
                </a:solidFill>
                <a:latin typeface="Calibri (MS)"/>
                <a:ea typeface="Calibri (MS)"/>
                <a:cs typeface="Calibri (MS)"/>
                <a:sym typeface="Calibri (MS)"/>
              </a:rPr>
              <a:t> al</a:t>
            </a:r>
            <a:r>
              <a:rPr lang="en-US" sz="3900">
                <a:solidFill>
                  <a:srgbClr val="000000"/>
                </a:solidFill>
                <a:latin typeface="Calibri (MS)"/>
                <a:ea typeface="Calibri (MS)"/>
                <a:cs typeface="Calibri (MS)"/>
                <a:sym typeface="Calibri (MS)"/>
              </a:rPr>
              <a:t>g</a:t>
            </a:r>
            <a:r>
              <a:rPr lang="en-US" sz="3900">
                <a:solidFill>
                  <a:srgbClr val="000000"/>
                </a:solidFill>
                <a:latin typeface="Calibri (MS)"/>
                <a:ea typeface="Calibri (MS)"/>
                <a:cs typeface="Calibri (MS)"/>
                <a:sym typeface="Calibri (MS)"/>
              </a:rPr>
              <a:t>ori</a:t>
            </a:r>
            <a:r>
              <a:rPr lang="en-US" sz="3900">
                <a:solidFill>
                  <a:srgbClr val="000000"/>
                </a:solidFill>
                <a:latin typeface="Calibri (MS)"/>
                <a:ea typeface="Calibri (MS)"/>
                <a:cs typeface="Calibri (MS)"/>
                <a:sym typeface="Calibri (MS)"/>
              </a:rPr>
              <a:t>thm implementation, experime</a:t>
            </a:r>
            <a:r>
              <a:rPr lang="en-US" sz="3900">
                <a:solidFill>
                  <a:srgbClr val="000000"/>
                </a:solidFill>
                <a:latin typeface="Calibri (MS)"/>
                <a:ea typeface="Calibri (MS)"/>
                <a:cs typeface="Calibri (MS)"/>
                <a:sym typeface="Calibri (MS)"/>
              </a:rPr>
              <a:t>nt</a:t>
            </a:r>
            <a:r>
              <a:rPr lang="en-US" sz="3900">
                <a:solidFill>
                  <a:srgbClr val="000000"/>
                </a:solidFill>
                <a:latin typeface="Calibri (MS)"/>
                <a:ea typeface="Calibri (MS)"/>
                <a:cs typeface="Calibri (MS)"/>
                <a:sym typeface="Calibri (MS)"/>
              </a:rPr>
              <a:t>a</a:t>
            </a:r>
            <a:r>
              <a:rPr lang="en-US" sz="3900">
                <a:solidFill>
                  <a:srgbClr val="000000"/>
                </a:solidFill>
                <a:latin typeface="Calibri (MS)"/>
                <a:ea typeface="Calibri (MS)"/>
                <a:cs typeface="Calibri (MS)"/>
                <a:sym typeface="Calibri (MS)"/>
              </a:rPr>
              <a:t>ti</a:t>
            </a:r>
            <a:r>
              <a:rPr lang="en-US" sz="3900">
                <a:solidFill>
                  <a:srgbClr val="000000"/>
                </a:solidFill>
                <a:latin typeface="Calibri (MS)"/>
                <a:ea typeface="Calibri (MS)"/>
                <a:cs typeface="Calibri (MS)"/>
                <a:sym typeface="Calibri (MS)"/>
              </a:rPr>
              <a:t>o</a:t>
            </a:r>
            <a:r>
              <a:rPr lang="en-US" sz="3900">
                <a:solidFill>
                  <a:srgbClr val="000000"/>
                </a:solidFill>
                <a:latin typeface="Calibri (MS)"/>
                <a:ea typeface="Calibri (MS)"/>
                <a:cs typeface="Calibri (MS)"/>
                <a:sym typeface="Calibri (MS)"/>
              </a:rPr>
              <a:t>n, and r</a:t>
            </a:r>
            <a:r>
              <a:rPr lang="en-US" sz="3900">
                <a:solidFill>
                  <a:srgbClr val="000000"/>
                </a:solidFill>
                <a:latin typeface="Calibri (MS)"/>
                <a:ea typeface="Calibri (MS)"/>
                <a:cs typeface="Calibri (MS)"/>
                <a:sym typeface="Calibri (MS)"/>
              </a:rPr>
              <a:t>esult a</a:t>
            </a:r>
            <a:r>
              <a:rPr lang="en-US" sz="3900">
                <a:solidFill>
                  <a:srgbClr val="000000"/>
                </a:solidFill>
                <a:latin typeface="Calibri (MS)"/>
                <a:ea typeface="Calibri (MS)"/>
                <a:cs typeface="Calibri (MS)"/>
                <a:sym typeface="Calibri (MS)"/>
              </a:rPr>
              <a:t>n</a:t>
            </a:r>
            <a:r>
              <a:rPr lang="en-US" sz="3900">
                <a:solidFill>
                  <a:srgbClr val="000000"/>
                </a:solidFill>
                <a:latin typeface="Calibri (MS)"/>
                <a:ea typeface="Calibri (MS)"/>
                <a:cs typeface="Calibri (MS)"/>
                <a:sym typeface="Calibri (MS)"/>
              </a:rPr>
              <a:t>alysis.</a:t>
            </a:r>
          </a:p>
          <a:p>
            <a:pPr algn="l" marL="705802" indent="-352901" lvl="1">
              <a:lnSpc>
                <a:spcPts val="468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1471" y="327460"/>
            <a:ext cx="14125899" cy="1033760"/>
            <a:chOff x="0" y="0"/>
            <a:chExt cx="18834532" cy="1378347"/>
          </a:xfrm>
        </p:grpSpPr>
        <p:sp>
          <p:nvSpPr>
            <p:cNvPr name="Freeform 3" id="3"/>
            <p:cNvSpPr/>
            <p:nvPr/>
          </p:nvSpPr>
          <p:spPr>
            <a:xfrm flipH="false" flipV="false" rot="0">
              <a:off x="0" y="0"/>
              <a:ext cx="18834481" cy="1378347"/>
            </a:xfrm>
            <a:custGeom>
              <a:avLst/>
              <a:gdLst/>
              <a:ahLst/>
              <a:cxnLst/>
              <a:rect r="r" b="b" t="t" l="l"/>
              <a:pathLst>
                <a:path h="1378347" w="18834481">
                  <a:moveTo>
                    <a:pt x="0" y="0"/>
                  </a:moveTo>
                  <a:lnTo>
                    <a:pt x="18834481" y="0"/>
                  </a:lnTo>
                  <a:lnTo>
                    <a:pt x="18834481" y="1378347"/>
                  </a:lnTo>
                  <a:lnTo>
                    <a:pt x="0" y="1378347"/>
                  </a:lnTo>
                  <a:close/>
                </a:path>
              </a:pathLst>
            </a:custGeom>
            <a:solidFill>
              <a:srgbClr val="C00000"/>
            </a:solidFill>
          </p:spPr>
        </p:sp>
        <p:sp>
          <p:nvSpPr>
            <p:cNvPr name="TextBox 4" id="4"/>
            <p:cNvSpPr txBox="true"/>
            <p:nvPr/>
          </p:nvSpPr>
          <p:spPr>
            <a:xfrm>
              <a:off x="0" y="-28575"/>
              <a:ext cx="18834532" cy="1406922"/>
            </a:xfrm>
            <a:prstGeom prst="rect">
              <a:avLst/>
            </a:prstGeom>
          </p:spPr>
          <p:txBody>
            <a:bodyPr anchor="ctr" rtlCol="false" tIns="50800" lIns="50800" bIns="50800" rIns="50800"/>
            <a:lstStyle/>
            <a:p>
              <a:pPr algn="ctr">
                <a:lnSpc>
                  <a:spcPts val="5759"/>
                </a:lnSpc>
              </a:pPr>
              <a:r>
                <a:rPr lang="en-US" sz="4800">
                  <a:solidFill>
                    <a:srgbClr val="FFFFFF"/>
                  </a:solidFill>
                  <a:latin typeface="Times New Roman"/>
                  <a:ea typeface="Times New Roman"/>
                  <a:cs typeface="Times New Roman"/>
                  <a:sym typeface="Times New Roman"/>
                </a:rPr>
                <a:t>Research </a:t>
              </a:r>
              <a:r>
                <a:rPr lang="en-US" sz="4800" b="true">
                  <a:solidFill>
                    <a:srgbClr val="FFFFFF"/>
                  </a:solidFill>
                  <a:latin typeface="Times New Roman Bold"/>
                  <a:ea typeface="Times New Roman Bold"/>
                  <a:cs typeface="Times New Roman Bold"/>
                  <a:sym typeface="Times New Roman Bold"/>
                </a:rPr>
                <a:t>Overview</a:t>
              </a:r>
            </a:p>
          </p:txBody>
        </p:sp>
      </p:grpSp>
      <p:grpSp>
        <p:nvGrpSpPr>
          <p:cNvPr name="Group 5" id="5"/>
          <p:cNvGrpSpPr/>
          <p:nvPr/>
        </p:nvGrpSpPr>
        <p:grpSpPr>
          <a:xfrm rot="0">
            <a:off x="0" y="9922669"/>
            <a:ext cx="18288000" cy="345281"/>
            <a:chOff x="0" y="0"/>
            <a:chExt cx="24384000" cy="460375"/>
          </a:xfrm>
        </p:grpSpPr>
        <p:sp>
          <p:nvSpPr>
            <p:cNvPr name="Freeform 6" id="6"/>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7" id="7"/>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8" id="8"/>
          <p:cNvGrpSpPr/>
          <p:nvPr/>
        </p:nvGrpSpPr>
        <p:grpSpPr>
          <a:xfrm rot="0">
            <a:off x="530209" y="262014"/>
            <a:ext cx="1700212" cy="1800225"/>
            <a:chOff x="0" y="0"/>
            <a:chExt cx="2266950" cy="2400300"/>
          </a:xfrm>
        </p:grpSpPr>
        <p:sp>
          <p:nvSpPr>
            <p:cNvPr name="Freeform 9" id="9"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10" id="10"/>
          <p:cNvSpPr txBox="true"/>
          <p:nvPr/>
        </p:nvSpPr>
        <p:spPr>
          <a:xfrm rot="0">
            <a:off x="3482912" y="1877835"/>
            <a:ext cx="13779370" cy="5981700"/>
          </a:xfrm>
          <a:prstGeom prst="rect">
            <a:avLst/>
          </a:prstGeom>
        </p:spPr>
        <p:txBody>
          <a:bodyPr anchor="t" rtlCol="false" tIns="0" lIns="0" bIns="0" rIns="0">
            <a:spAutoFit/>
          </a:bodyPr>
          <a:lstStyle/>
          <a:p>
            <a:pPr algn="l">
              <a:lnSpc>
                <a:spcPts val="4680"/>
              </a:lnSpc>
            </a:pPr>
            <a:r>
              <a:rPr lang="en-US" sz="3900" b="true">
                <a:solidFill>
                  <a:srgbClr val="000000"/>
                </a:solidFill>
                <a:latin typeface="Calibri (MS) Bold"/>
                <a:ea typeface="Calibri (MS) Bold"/>
                <a:cs typeface="Calibri (MS) Bold"/>
                <a:sym typeface="Calibri (MS) Bold"/>
              </a:rPr>
              <a:t>Th</a:t>
            </a:r>
            <a:r>
              <a:rPr lang="en-US" sz="3900" b="true">
                <a:solidFill>
                  <a:srgbClr val="000000"/>
                </a:solidFill>
                <a:latin typeface="Calibri (MS) Bold"/>
                <a:ea typeface="Calibri (MS) Bold"/>
                <a:cs typeface="Calibri (MS) Bold"/>
                <a:sym typeface="Calibri (MS) Bold"/>
              </a:rPr>
              <a:t>e project focuses on Federated Fine-Tuning of Large Language Models (LLMs) and Small Language Models (SLMs) to enable privacy-preserving and communication-efficient distributed learning. It explores Parameter-Efficient Fine-Tuning (PEFT) methods such as LoRA and E²LoRA, along with efficient aggregation algorithms for heterogeneous client updates. The research evaluates these methods under different federated learning settings using PyTorch and Hugging Face Transformers, aiming to improve the scalability and efficiency of fine-tuning modern language models.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0160" y="2969518"/>
            <a:ext cx="9888005" cy="6592003"/>
          </a:xfrm>
          <a:custGeom>
            <a:avLst/>
            <a:gdLst/>
            <a:ahLst/>
            <a:cxnLst/>
            <a:rect r="r" b="b" t="t" l="l"/>
            <a:pathLst>
              <a:path h="6592003" w="9888005">
                <a:moveTo>
                  <a:pt x="0" y="0"/>
                </a:moveTo>
                <a:lnTo>
                  <a:pt x="9888005" y="0"/>
                </a:lnTo>
                <a:lnTo>
                  <a:pt x="9888005" y="6592003"/>
                </a:lnTo>
                <a:lnTo>
                  <a:pt x="0" y="6592003"/>
                </a:lnTo>
                <a:lnTo>
                  <a:pt x="0" y="0"/>
                </a:lnTo>
                <a:close/>
              </a:path>
            </a:pathLst>
          </a:custGeom>
          <a:blipFill>
            <a:blip r:embed="rId2"/>
            <a:stretch>
              <a:fillRect l="0" t="0" r="0" b="0"/>
            </a:stretch>
          </a:blipFill>
        </p:spPr>
      </p:sp>
      <p:sp>
        <p:nvSpPr>
          <p:cNvPr name="Freeform 3" id="3"/>
          <p:cNvSpPr/>
          <p:nvPr/>
        </p:nvSpPr>
        <p:spPr>
          <a:xfrm flipH="false" flipV="false" rot="0">
            <a:off x="10584219" y="1473918"/>
            <a:ext cx="5972770" cy="8813082"/>
          </a:xfrm>
          <a:custGeom>
            <a:avLst/>
            <a:gdLst/>
            <a:ahLst/>
            <a:cxnLst/>
            <a:rect r="r" b="b" t="t" l="l"/>
            <a:pathLst>
              <a:path h="8813082" w="5972770">
                <a:moveTo>
                  <a:pt x="0" y="0"/>
                </a:moveTo>
                <a:lnTo>
                  <a:pt x="5972770" y="0"/>
                </a:lnTo>
                <a:lnTo>
                  <a:pt x="5972770" y="8813082"/>
                </a:lnTo>
                <a:lnTo>
                  <a:pt x="0" y="8813082"/>
                </a:lnTo>
                <a:lnTo>
                  <a:pt x="0" y="0"/>
                </a:lnTo>
                <a:close/>
              </a:path>
            </a:pathLst>
          </a:custGeom>
          <a:blipFill>
            <a:blip r:embed="rId3"/>
            <a:stretch>
              <a:fillRect l="0" t="0" r="0" b="0"/>
            </a:stretch>
          </a:blipFill>
        </p:spPr>
      </p:sp>
      <p:sp>
        <p:nvSpPr>
          <p:cNvPr name="TextBox 4" id="4"/>
          <p:cNvSpPr txBox="true"/>
          <p:nvPr/>
        </p:nvSpPr>
        <p:spPr>
          <a:xfrm rot="0">
            <a:off x="6994169" y="509130"/>
            <a:ext cx="5564535" cy="847725"/>
          </a:xfrm>
          <a:prstGeom prst="rect">
            <a:avLst/>
          </a:prstGeom>
        </p:spPr>
        <p:txBody>
          <a:bodyPr anchor="t" rtlCol="false" tIns="0" lIns="0" bIns="0" rIns="0">
            <a:spAutoFit/>
          </a:bodyPr>
          <a:lstStyle/>
          <a:p>
            <a:pPr algn="just">
              <a:lnSpc>
                <a:spcPts val="6480"/>
              </a:lnSpc>
            </a:pPr>
            <a:r>
              <a:rPr lang="en-US" sz="5400">
                <a:solidFill>
                  <a:srgbClr val="000000"/>
                </a:solidFill>
                <a:latin typeface="Arimo"/>
                <a:ea typeface="Arimo"/>
                <a:cs typeface="Arimo"/>
                <a:sym typeface="Arimo"/>
              </a:rPr>
              <a:t>transformer model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46893" y="3388372"/>
            <a:ext cx="12760713" cy="5869928"/>
          </a:xfrm>
          <a:custGeom>
            <a:avLst/>
            <a:gdLst/>
            <a:ahLst/>
            <a:cxnLst/>
            <a:rect r="r" b="b" t="t" l="l"/>
            <a:pathLst>
              <a:path h="5869928" w="12760713">
                <a:moveTo>
                  <a:pt x="0" y="0"/>
                </a:moveTo>
                <a:lnTo>
                  <a:pt x="12760713" y="0"/>
                </a:lnTo>
                <a:lnTo>
                  <a:pt x="12760713" y="5869928"/>
                </a:lnTo>
                <a:lnTo>
                  <a:pt x="0" y="5869928"/>
                </a:lnTo>
                <a:lnTo>
                  <a:pt x="0" y="0"/>
                </a:lnTo>
                <a:close/>
              </a:path>
            </a:pathLst>
          </a:custGeom>
          <a:blipFill>
            <a:blip r:embed="rId2"/>
            <a:stretch>
              <a:fillRect l="0" t="0" r="0" b="0"/>
            </a:stretch>
          </a:blipFill>
        </p:spPr>
      </p:sp>
      <p:sp>
        <p:nvSpPr>
          <p:cNvPr name="TextBox 3" id="3"/>
          <p:cNvSpPr txBox="true"/>
          <p:nvPr/>
        </p:nvSpPr>
        <p:spPr>
          <a:xfrm rot="0">
            <a:off x="6994169" y="509130"/>
            <a:ext cx="4537472" cy="847725"/>
          </a:xfrm>
          <a:prstGeom prst="rect">
            <a:avLst/>
          </a:prstGeom>
        </p:spPr>
        <p:txBody>
          <a:bodyPr anchor="t" rtlCol="false" tIns="0" lIns="0" bIns="0" rIns="0">
            <a:spAutoFit/>
          </a:bodyPr>
          <a:lstStyle/>
          <a:p>
            <a:pPr algn="just">
              <a:lnSpc>
                <a:spcPts val="6480"/>
              </a:lnSpc>
            </a:pPr>
            <a:r>
              <a:rPr lang="en-US" sz="5400">
                <a:solidFill>
                  <a:srgbClr val="000000"/>
                </a:solidFill>
                <a:latin typeface="Arimo"/>
                <a:ea typeface="Arimo"/>
                <a:cs typeface="Arimo"/>
                <a:sym typeface="Arimo"/>
              </a:rPr>
              <a:t>Lora finetuning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3976" y="1650717"/>
            <a:ext cx="17000047" cy="7744093"/>
          </a:xfrm>
          <a:custGeom>
            <a:avLst/>
            <a:gdLst/>
            <a:ahLst/>
            <a:cxnLst/>
            <a:rect r="r" b="b" t="t" l="l"/>
            <a:pathLst>
              <a:path h="7744093" w="17000047">
                <a:moveTo>
                  <a:pt x="0" y="0"/>
                </a:moveTo>
                <a:lnTo>
                  <a:pt x="17000048" y="0"/>
                </a:lnTo>
                <a:lnTo>
                  <a:pt x="17000048" y="7744092"/>
                </a:lnTo>
                <a:lnTo>
                  <a:pt x="0" y="7744092"/>
                </a:lnTo>
                <a:lnTo>
                  <a:pt x="0" y="0"/>
                </a:lnTo>
                <a:close/>
              </a:path>
            </a:pathLst>
          </a:custGeom>
          <a:blipFill>
            <a:blip r:embed="rId2"/>
            <a:stretch>
              <a:fillRect l="0" t="0" r="0" b="0"/>
            </a:stretch>
          </a:blipFill>
        </p:spPr>
      </p:sp>
      <p:sp>
        <p:nvSpPr>
          <p:cNvPr name="TextBox 3" id="3"/>
          <p:cNvSpPr txBox="true"/>
          <p:nvPr/>
        </p:nvSpPr>
        <p:spPr>
          <a:xfrm rot="0">
            <a:off x="6994169" y="509130"/>
            <a:ext cx="6061174" cy="847725"/>
          </a:xfrm>
          <a:prstGeom prst="rect">
            <a:avLst/>
          </a:prstGeom>
        </p:spPr>
        <p:txBody>
          <a:bodyPr anchor="t" rtlCol="false" tIns="0" lIns="0" bIns="0" rIns="0">
            <a:spAutoFit/>
          </a:bodyPr>
          <a:lstStyle/>
          <a:p>
            <a:pPr algn="just">
              <a:lnSpc>
                <a:spcPts val="6480"/>
              </a:lnSpc>
            </a:pPr>
            <a:r>
              <a:rPr lang="en-US" sz="5400">
                <a:solidFill>
                  <a:srgbClr val="000000"/>
                </a:solidFill>
                <a:latin typeface="Arimo"/>
                <a:ea typeface="Arimo"/>
                <a:cs typeface="Arimo"/>
                <a:sym typeface="Arimo"/>
              </a:rPr>
              <a:t>e2 lora architecture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59143" y="1631685"/>
            <a:ext cx="15569713" cy="8655315"/>
          </a:xfrm>
          <a:custGeom>
            <a:avLst/>
            <a:gdLst/>
            <a:ahLst/>
            <a:cxnLst/>
            <a:rect r="r" b="b" t="t" l="l"/>
            <a:pathLst>
              <a:path h="8655315" w="15569713">
                <a:moveTo>
                  <a:pt x="0" y="0"/>
                </a:moveTo>
                <a:lnTo>
                  <a:pt x="15569714" y="0"/>
                </a:lnTo>
                <a:lnTo>
                  <a:pt x="15569714" y="8655315"/>
                </a:lnTo>
                <a:lnTo>
                  <a:pt x="0" y="8655315"/>
                </a:lnTo>
                <a:lnTo>
                  <a:pt x="0" y="0"/>
                </a:lnTo>
                <a:close/>
              </a:path>
            </a:pathLst>
          </a:custGeom>
          <a:blipFill>
            <a:blip r:embed="rId2"/>
            <a:stretch>
              <a:fillRect l="0" t="0" r="0" b="0"/>
            </a:stretch>
          </a:blipFill>
        </p:spPr>
      </p:sp>
      <p:sp>
        <p:nvSpPr>
          <p:cNvPr name="TextBox 3" id="3"/>
          <p:cNvSpPr txBox="true"/>
          <p:nvPr/>
        </p:nvSpPr>
        <p:spPr>
          <a:xfrm rot="0">
            <a:off x="6293453" y="583673"/>
            <a:ext cx="6496221" cy="847725"/>
          </a:xfrm>
          <a:prstGeom prst="rect">
            <a:avLst/>
          </a:prstGeom>
        </p:spPr>
        <p:txBody>
          <a:bodyPr anchor="t" rtlCol="false" tIns="0" lIns="0" bIns="0" rIns="0">
            <a:spAutoFit/>
          </a:bodyPr>
          <a:lstStyle/>
          <a:p>
            <a:pPr algn="l">
              <a:lnSpc>
                <a:spcPts val="6480"/>
              </a:lnSpc>
            </a:pPr>
            <a:r>
              <a:rPr lang="en-US" sz="5400">
                <a:solidFill>
                  <a:srgbClr val="000000"/>
                </a:solidFill>
                <a:latin typeface="Arimo"/>
                <a:ea typeface="Arimo"/>
                <a:cs typeface="Arimo"/>
                <a:sym typeface="Arimo"/>
              </a:rPr>
              <a:t>E2 lora intution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54864" y="1679158"/>
            <a:ext cx="11604380" cy="8131536"/>
          </a:xfrm>
          <a:custGeom>
            <a:avLst/>
            <a:gdLst/>
            <a:ahLst/>
            <a:cxnLst/>
            <a:rect r="r" b="b" t="t" l="l"/>
            <a:pathLst>
              <a:path h="8131536" w="11604380">
                <a:moveTo>
                  <a:pt x="0" y="0"/>
                </a:moveTo>
                <a:lnTo>
                  <a:pt x="11604380" y="0"/>
                </a:lnTo>
                <a:lnTo>
                  <a:pt x="11604380" y="8131536"/>
                </a:lnTo>
                <a:lnTo>
                  <a:pt x="0" y="8131536"/>
                </a:lnTo>
                <a:lnTo>
                  <a:pt x="0" y="0"/>
                </a:lnTo>
                <a:close/>
              </a:path>
            </a:pathLst>
          </a:custGeom>
          <a:blipFill>
            <a:blip r:embed="rId2"/>
            <a:stretch>
              <a:fillRect l="0" t="0" r="0" b="0"/>
            </a:stretch>
          </a:blipFill>
        </p:spPr>
      </p:sp>
      <p:sp>
        <p:nvSpPr>
          <p:cNvPr name="TextBox 3" id="3"/>
          <p:cNvSpPr txBox="true"/>
          <p:nvPr/>
        </p:nvSpPr>
        <p:spPr>
          <a:xfrm rot="0">
            <a:off x="6845075" y="613496"/>
            <a:ext cx="5528667" cy="847725"/>
          </a:xfrm>
          <a:prstGeom prst="rect">
            <a:avLst/>
          </a:prstGeom>
        </p:spPr>
        <p:txBody>
          <a:bodyPr anchor="t" rtlCol="false" tIns="0" lIns="0" bIns="0" rIns="0">
            <a:spAutoFit/>
          </a:bodyPr>
          <a:lstStyle/>
          <a:p>
            <a:pPr algn="just">
              <a:lnSpc>
                <a:spcPts val="6480"/>
              </a:lnSpc>
            </a:pPr>
            <a:r>
              <a:rPr lang="en-US" sz="5400">
                <a:solidFill>
                  <a:srgbClr val="000000"/>
                </a:solidFill>
                <a:latin typeface="Arimo"/>
                <a:ea typeface="Arimo"/>
                <a:cs typeface="Arimo"/>
                <a:sym typeface="Arimo"/>
              </a:rPr>
              <a:t>federated learning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07972" y="2834763"/>
            <a:ext cx="10072055" cy="5312365"/>
          </a:xfrm>
          <a:custGeom>
            <a:avLst/>
            <a:gdLst/>
            <a:ahLst/>
            <a:cxnLst/>
            <a:rect r="r" b="b" t="t" l="l"/>
            <a:pathLst>
              <a:path h="5312365" w="10072055">
                <a:moveTo>
                  <a:pt x="0" y="0"/>
                </a:moveTo>
                <a:lnTo>
                  <a:pt x="10072056" y="0"/>
                </a:lnTo>
                <a:lnTo>
                  <a:pt x="10072056" y="5312365"/>
                </a:lnTo>
                <a:lnTo>
                  <a:pt x="0" y="5312365"/>
                </a:lnTo>
                <a:lnTo>
                  <a:pt x="0" y="0"/>
                </a:lnTo>
                <a:close/>
              </a:path>
            </a:pathLst>
          </a:custGeom>
          <a:blipFill>
            <a:blip r:embed="rId2"/>
            <a:stretch>
              <a:fillRect l="0" t="-28925" r="0" b="0"/>
            </a:stretch>
          </a:blipFill>
        </p:spPr>
      </p:sp>
      <p:sp>
        <p:nvSpPr>
          <p:cNvPr name="TextBox 3" id="3"/>
          <p:cNvSpPr txBox="true"/>
          <p:nvPr/>
        </p:nvSpPr>
        <p:spPr>
          <a:xfrm rot="0">
            <a:off x="4459198" y="590550"/>
            <a:ext cx="9369604" cy="847725"/>
          </a:xfrm>
          <a:prstGeom prst="rect">
            <a:avLst/>
          </a:prstGeom>
        </p:spPr>
        <p:txBody>
          <a:bodyPr anchor="t" rtlCol="false" tIns="0" lIns="0" bIns="0" rIns="0">
            <a:spAutoFit/>
          </a:bodyPr>
          <a:lstStyle/>
          <a:p>
            <a:pPr algn="l">
              <a:lnSpc>
                <a:spcPts val="6480"/>
              </a:lnSpc>
            </a:pPr>
            <a:r>
              <a:rPr lang="en-US" sz="5400">
                <a:solidFill>
                  <a:srgbClr val="000000"/>
                </a:solidFill>
                <a:latin typeface="Arimo"/>
                <a:ea typeface="Arimo"/>
                <a:cs typeface="Arimo"/>
                <a:sym typeface="Arimo"/>
              </a:rPr>
              <a:t>Problem in federated learning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386678"/>
            <a:ext cx="15580764" cy="8598582"/>
          </a:xfrm>
          <a:custGeom>
            <a:avLst/>
            <a:gdLst/>
            <a:ahLst/>
            <a:cxnLst/>
            <a:rect r="r" b="b" t="t" l="l"/>
            <a:pathLst>
              <a:path h="8598582" w="15580764">
                <a:moveTo>
                  <a:pt x="0" y="0"/>
                </a:moveTo>
                <a:lnTo>
                  <a:pt x="15580764" y="0"/>
                </a:lnTo>
                <a:lnTo>
                  <a:pt x="15580764" y="8598582"/>
                </a:lnTo>
                <a:lnTo>
                  <a:pt x="0" y="8598582"/>
                </a:lnTo>
                <a:lnTo>
                  <a:pt x="0" y="0"/>
                </a:lnTo>
                <a:close/>
              </a:path>
            </a:pathLst>
          </a:custGeom>
          <a:blipFill>
            <a:blip r:embed="rId2"/>
            <a:stretch>
              <a:fillRect l="0" t="0" r="0" b="0"/>
            </a:stretch>
          </a:blipFill>
        </p:spPr>
      </p:sp>
      <p:sp>
        <p:nvSpPr>
          <p:cNvPr name="TextBox 3" id="3"/>
          <p:cNvSpPr txBox="true"/>
          <p:nvPr/>
        </p:nvSpPr>
        <p:spPr>
          <a:xfrm rot="0">
            <a:off x="6821924" y="275742"/>
            <a:ext cx="7688913" cy="1666875"/>
          </a:xfrm>
          <a:prstGeom prst="rect">
            <a:avLst/>
          </a:prstGeom>
        </p:spPr>
        <p:txBody>
          <a:bodyPr anchor="t" rtlCol="false" tIns="0" lIns="0" bIns="0" rIns="0">
            <a:spAutoFit/>
          </a:bodyPr>
          <a:lstStyle/>
          <a:p>
            <a:pPr algn="l">
              <a:lnSpc>
                <a:spcPts val="6480"/>
              </a:lnSpc>
            </a:pPr>
            <a:r>
              <a:rPr lang="en-US" sz="5400">
                <a:solidFill>
                  <a:srgbClr val="000000"/>
                </a:solidFill>
                <a:latin typeface="Arimo"/>
                <a:ea typeface="Arimo"/>
                <a:cs typeface="Arimo"/>
                <a:sym typeface="Arimo"/>
              </a:rPr>
              <a:t>architecture FedE2lora</a:t>
            </a:r>
          </a:p>
          <a:p>
            <a:pPr algn="l">
              <a:lnSpc>
                <a:spcPts val="648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04801" y="917467"/>
            <a:ext cx="14751281" cy="8731988"/>
          </a:xfrm>
          <a:custGeom>
            <a:avLst/>
            <a:gdLst/>
            <a:ahLst/>
            <a:cxnLst/>
            <a:rect r="r" b="b" t="t" l="l"/>
            <a:pathLst>
              <a:path h="8731988" w="14751281">
                <a:moveTo>
                  <a:pt x="0" y="0"/>
                </a:moveTo>
                <a:lnTo>
                  <a:pt x="14751281" y="0"/>
                </a:lnTo>
                <a:lnTo>
                  <a:pt x="14751281" y="8731988"/>
                </a:lnTo>
                <a:lnTo>
                  <a:pt x="0" y="8731988"/>
                </a:lnTo>
                <a:lnTo>
                  <a:pt x="0" y="0"/>
                </a:lnTo>
                <a:close/>
              </a:path>
            </a:pathLst>
          </a:custGeom>
          <a:blipFill>
            <a:blip r:embed="rId2"/>
            <a:stretch>
              <a:fillRect l="0" t="0" r="0" b="0"/>
            </a:stretch>
          </a:blipFill>
        </p:spPr>
      </p:sp>
      <p:sp>
        <p:nvSpPr>
          <p:cNvPr name="TextBox 3" id="3"/>
          <p:cNvSpPr txBox="true"/>
          <p:nvPr/>
        </p:nvSpPr>
        <p:spPr>
          <a:xfrm rot="0">
            <a:off x="6069825" y="479317"/>
            <a:ext cx="7201891" cy="847725"/>
          </a:xfrm>
          <a:prstGeom prst="rect">
            <a:avLst/>
          </a:prstGeom>
        </p:spPr>
        <p:txBody>
          <a:bodyPr anchor="t" rtlCol="false" tIns="0" lIns="0" bIns="0" rIns="0">
            <a:spAutoFit/>
          </a:bodyPr>
          <a:lstStyle/>
          <a:p>
            <a:pPr algn="l">
              <a:lnSpc>
                <a:spcPts val="6480"/>
              </a:lnSpc>
            </a:pPr>
            <a:r>
              <a:rPr lang="en-US" sz="5400">
                <a:solidFill>
                  <a:srgbClr val="000000"/>
                </a:solidFill>
                <a:latin typeface="Arimo"/>
                <a:ea typeface="Arimo"/>
                <a:cs typeface="Arimo"/>
                <a:sym typeface="Arimo"/>
              </a:rPr>
              <a:t>Results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9995" y="1931210"/>
            <a:ext cx="6356412" cy="6073633"/>
          </a:xfrm>
          <a:custGeom>
            <a:avLst/>
            <a:gdLst/>
            <a:ahLst/>
            <a:cxnLst/>
            <a:rect r="r" b="b" t="t" l="l"/>
            <a:pathLst>
              <a:path h="6073633" w="6356412">
                <a:moveTo>
                  <a:pt x="0" y="0"/>
                </a:moveTo>
                <a:lnTo>
                  <a:pt x="6356412" y="0"/>
                </a:lnTo>
                <a:lnTo>
                  <a:pt x="6356412" y="6073633"/>
                </a:lnTo>
                <a:lnTo>
                  <a:pt x="0" y="6073633"/>
                </a:lnTo>
                <a:lnTo>
                  <a:pt x="0" y="0"/>
                </a:lnTo>
                <a:close/>
              </a:path>
            </a:pathLst>
          </a:custGeom>
          <a:blipFill>
            <a:blip r:embed="rId2"/>
            <a:stretch>
              <a:fillRect l="0" t="0" r="-1725" b="0"/>
            </a:stretch>
          </a:blipFill>
        </p:spPr>
      </p:sp>
      <p:sp>
        <p:nvSpPr>
          <p:cNvPr name="Freeform 3" id="3"/>
          <p:cNvSpPr/>
          <p:nvPr/>
        </p:nvSpPr>
        <p:spPr>
          <a:xfrm flipH="false" flipV="false" rot="0">
            <a:off x="6691110" y="1940311"/>
            <a:ext cx="5959322" cy="6055430"/>
          </a:xfrm>
          <a:custGeom>
            <a:avLst/>
            <a:gdLst/>
            <a:ahLst/>
            <a:cxnLst/>
            <a:rect r="r" b="b" t="t" l="l"/>
            <a:pathLst>
              <a:path h="6055430" w="5959322">
                <a:moveTo>
                  <a:pt x="0" y="0"/>
                </a:moveTo>
                <a:lnTo>
                  <a:pt x="5959322" y="0"/>
                </a:lnTo>
                <a:lnTo>
                  <a:pt x="5959322" y="6055430"/>
                </a:lnTo>
                <a:lnTo>
                  <a:pt x="0" y="6055430"/>
                </a:lnTo>
                <a:lnTo>
                  <a:pt x="0" y="0"/>
                </a:lnTo>
                <a:close/>
              </a:path>
            </a:pathLst>
          </a:custGeom>
          <a:blipFill>
            <a:blip r:embed="rId3"/>
            <a:stretch>
              <a:fillRect l="-8097" t="0" r="-18403" b="0"/>
            </a:stretch>
          </a:blipFill>
        </p:spPr>
      </p:sp>
      <p:sp>
        <p:nvSpPr>
          <p:cNvPr name="Freeform 4" id="4"/>
          <p:cNvSpPr/>
          <p:nvPr/>
        </p:nvSpPr>
        <p:spPr>
          <a:xfrm flipH="false" flipV="false" rot="0">
            <a:off x="12755207" y="2115785"/>
            <a:ext cx="6290838" cy="6055430"/>
          </a:xfrm>
          <a:custGeom>
            <a:avLst/>
            <a:gdLst/>
            <a:ahLst/>
            <a:cxnLst/>
            <a:rect r="r" b="b" t="t" l="l"/>
            <a:pathLst>
              <a:path h="6055430" w="6290838">
                <a:moveTo>
                  <a:pt x="0" y="0"/>
                </a:moveTo>
                <a:lnTo>
                  <a:pt x="6290838" y="0"/>
                </a:lnTo>
                <a:lnTo>
                  <a:pt x="6290838" y="6055430"/>
                </a:lnTo>
                <a:lnTo>
                  <a:pt x="0" y="6055430"/>
                </a:lnTo>
                <a:lnTo>
                  <a:pt x="0" y="0"/>
                </a:lnTo>
                <a:close/>
              </a:path>
            </a:pathLst>
          </a:custGeom>
          <a:blipFill>
            <a:blip r:embed="rId4"/>
            <a:stretch>
              <a:fillRect l="-7670" t="0" r="0" b="0"/>
            </a:stretch>
          </a:blipFill>
        </p:spPr>
      </p:sp>
      <p:sp>
        <p:nvSpPr>
          <p:cNvPr name="TextBox 5" id="5"/>
          <p:cNvSpPr txBox="true"/>
          <p:nvPr/>
        </p:nvSpPr>
        <p:spPr>
          <a:xfrm rot="0">
            <a:off x="6069825" y="479317"/>
            <a:ext cx="7201891" cy="847725"/>
          </a:xfrm>
          <a:prstGeom prst="rect">
            <a:avLst/>
          </a:prstGeom>
        </p:spPr>
        <p:txBody>
          <a:bodyPr anchor="t" rtlCol="false" tIns="0" lIns="0" bIns="0" rIns="0">
            <a:spAutoFit/>
          </a:bodyPr>
          <a:lstStyle/>
          <a:p>
            <a:pPr algn="l">
              <a:lnSpc>
                <a:spcPts val="6480"/>
              </a:lnSpc>
            </a:pPr>
            <a:r>
              <a:rPr lang="en-US" sz="5400">
                <a:solidFill>
                  <a:srgbClr val="000000"/>
                </a:solidFill>
                <a:latin typeface="Arimo"/>
                <a:ea typeface="Arimo"/>
                <a:cs typeface="Arimo"/>
                <a:sym typeface="Arimo"/>
              </a:rPr>
              <a:t>Code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86020" y="933501"/>
            <a:ext cx="14388616" cy="8705984"/>
          </a:xfrm>
          <a:custGeom>
            <a:avLst/>
            <a:gdLst/>
            <a:ahLst/>
            <a:cxnLst/>
            <a:rect r="r" b="b" t="t" l="l"/>
            <a:pathLst>
              <a:path h="8705984" w="14388616">
                <a:moveTo>
                  <a:pt x="0" y="0"/>
                </a:moveTo>
                <a:lnTo>
                  <a:pt x="14388617" y="0"/>
                </a:lnTo>
                <a:lnTo>
                  <a:pt x="14388617" y="8705984"/>
                </a:lnTo>
                <a:lnTo>
                  <a:pt x="0" y="8705984"/>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1472" y="327460"/>
            <a:ext cx="14125899" cy="992981"/>
            <a:chOff x="0" y="0"/>
            <a:chExt cx="18834532" cy="1323975"/>
          </a:xfrm>
        </p:grpSpPr>
        <p:sp>
          <p:nvSpPr>
            <p:cNvPr name="Freeform 3" id="3"/>
            <p:cNvSpPr/>
            <p:nvPr/>
          </p:nvSpPr>
          <p:spPr>
            <a:xfrm flipH="false" flipV="false" rot="0">
              <a:off x="0" y="0"/>
              <a:ext cx="18834481" cy="1323975"/>
            </a:xfrm>
            <a:custGeom>
              <a:avLst/>
              <a:gdLst/>
              <a:ahLst/>
              <a:cxnLst/>
              <a:rect r="r" b="b" t="t" l="l"/>
              <a:pathLst>
                <a:path h="1323975" w="18834481">
                  <a:moveTo>
                    <a:pt x="0" y="0"/>
                  </a:moveTo>
                  <a:lnTo>
                    <a:pt x="18834481" y="0"/>
                  </a:lnTo>
                  <a:lnTo>
                    <a:pt x="18834481" y="1323975"/>
                  </a:lnTo>
                  <a:lnTo>
                    <a:pt x="0" y="1323975"/>
                  </a:lnTo>
                  <a:close/>
                </a:path>
              </a:pathLst>
            </a:custGeom>
            <a:solidFill>
              <a:srgbClr val="C00000"/>
            </a:solidFill>
          </p:spPr>
        </p:sp>
        <p:sp>
          <p:nvSpPr>
            <p:cNvPr name="TextBox 4" id="4"/>
            <p:cNvSpPr txBox="true"/>
            <p:nvPr/>
          </p:nvSpPr>
          <p:spPr>
            <a:xfrm>
              <a:off x="0" y="-28575"/>
              <a:ext cx="18834532" cy="1352550"/>
            </a:xfrm>
            <a:prstGeom prst="rect">
              <a:avLst/>
            </a:prstGeom>
          </p:spPr>
          <p:txBody>
            <a:bodyPr anchor="ctr" rtlCol="false" tIns="50800" lIns="50800" bIns="50800" rIns="50800"/>
            <a:lstStyle/>
            <a:p>
              <a:pPr algn="ctr">
                <a:lnSpc>
                  <a:spcPts val="5759"/>
                </a:lnSpc>
              </a:pPr>
            </a:p>
            <a:p>
              <a:pPr algn="ctr">
                <a:lnSpc>
                  <a:spcPts val="5759"/>
                </a:lnSpc>
              </a:pPr>
              <a:r>
                <a:rPr lang="en-US" sz="4800" b="true">
                  <a:solidFill>
                    <a:srgbClr val="FFFFFF"/>
                  </a:solidFill>
                  <a:latin typeface="Times New Roman Bold"/>
                  <a:ea typeface="Times New Roman Bold"/>
                  <a:cs typeface="Times New Roman Bold"/>
                  <a:sym typeface="Times New Roman Bold"/>
                </a:rPr>
                <a:t>Future Scope</a:t>
              </a:r>
            </a:p>
            <a:p>
              <a:pPr algn="ctr">
                <a:lnSpc>
                  <a:spcPts val="5759"/>
                </a:lnSpc>
              </a:pPr>
            </a:p>
          </p:txBody>
        </p:sp>
      </p:grpSp>
      <p:grpSp>
        <p:nvGrpSpPr>
          <p:cNvPr name="Group 5" id="5"/>
          <p:cNvGrpSpPr/>
          <p:nvPr/>
        </p:nvGrpSpPr>
        <p:grpSpPr>
          <a:xfrm rot="0">
            <a:off x="0" y="9922669"/>
            <a:ext cx="18288000" cy="345281"/>
            <a:chOff x="0" y="0"/>
            <a:chExt cx="24384000" cy="460375"/>
          </a:xfrm>
        </p:grpSpPr>
        <p:sp>
          <p:nvSpPr>
            <p:cNvPr name="Freeform 6" id="6"/>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7" id="7"/>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8" id="8"/>
          <p:cNvGrpSpPr/>
          <p:nvPr/>
        </p:nvGrpSpPr>
        <p:grpSpPr>
          <a:xfrm rot="0">
            <a:off x="260623" y="30328"/>
            <a:ext cx="1700212" cy="1800225"/>
            <a:chOff x="0" y="0"/>
            <a:chExt cx="2266950" cy="2400300"/>
          </a:xfrm>
        </p:grpSpPr>
        <p:sp>
          <p:nvSpPr>
            <p:cNvPr name="Freeform 9" id="9"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10" id="10"/>
          <p:cNvSpPr txBox="true"/>
          <p:nvPr/>
        </p:nvSpPr>
        <p:spPr>
          <a:xfrm rot="0">
            <a:off x="3482912" y="1790548"/>
            <a:ext cx="13943019" cy="5153025"/>
          </a:xfrm>
          <a:prstGeom prst="rect">
            <a:avLst/>
          </a:prstGeom>
        </p:spPr>
        <p:txBody>
          <a:bodyPr anchor="t" rtlCol="false" tIns="0" lIns="0" bIns="0" rIns="0">
            <a:spAutoFit/>
          </a:bodyPr>
          <a:lstStyle/>
          <a:p>
            <a:pPr algn="l" marL="1036320" indent="-518160" lvl="1">
              <a:lnSpc>
                <a:spcPts val="5759"/>
              </a:lnSpc>
              <a:buFont typeface="Arial"/>
              <a:buChar char="•"/>
            </a:pPr>
            <a:r>
              <a:rPr lang="en-US" b="true" sz="4800">
                <a:solidFill>
                  <a:srgbClr val="000000"/>
                </a:solidFill>
                <a:latin typeface="Calibri (MS) Bold"/>
                <a:ea typeface="Calibri (MS) Bold"/>
                <a:cs typeface="Calibri (MS) Bold"/>
                <a:sym typeface="Calibri (MS) Bold"/>
              </a:rPr>
              <a:t>Commu</a:t>
            </a:r>
            <a:r>
              <a:rPr lang="en-US" b="true" sz="4800">
                <a:solidFill>
                  <a:srgbClr val="000000"/>
                </a:solidFill>
                <a:latin typeface="Calibri (MS) Bold"/>
                <a:ea typeface="Calibri (MS) Bold"/>
                <a:cs typeface="Calibri (MS) Bold"/>
                <a:sym typeface="Calibri (MS) Bold"/>
              </a:rPr>
              <a:t>nication-Efficient Federated Fine-Tuning</a:t>
            </a:r>
          </a:p>
          <a:p>
            <a:pPr algn="l" marL="1036320" indent="-518160" lvl="1">
              <a:lnSpc>
                <a:spcPts val="5759"/>
              </a:lnSpc>
              <a:buFont typeface="Arial"/>
              <a:buChar char="•"/>
            </a:pPr>
            <a:r>
              <a:rPr lang="en-US" b="true" sz="4800">
                <a:solidFill>
                  <a:srgbClr val="000000"/>
                </a:solidFill>
                <a:latin typeface="Calibri (MS) Bold"/>
                <a:ea typeface="Calibri (MS) Bold"/>
                <a:cs typeface="Calibri (MS) Bold"/>
                <a:sym typeface="Calibri (MS) Bold"/>
              </a:rPr>
              <a:t>Advanced PEFT Techniques for Federated Learning</a:t>
            </a:r>
          </a:p>
          <a:p>
            <a:pPr algn="l" marL="1036320" indent="-518160" lvl="1">
              <a:lnSpc>
                <a:spcPts val="5759"/>
              </a:lnSpc>
              <a:buFont typeface="Arial"/>
              <a:buChar char="•"/>
            </a:pPr>
            <a:r>
              <a:rPr lang="en-US" b="true" sz="4800">
                <a:solidFill>
                  <a:srgbClr val="000000"/>
                </a:solidFill>
                <a:latin typeface="Calibri (MS) Bold"/>
                <a:ea typeface="Calibri (MS) Bold"/>
                <a:cs typeface="Calibri (MS) Bold"/>
                <a:sym typeface="Calibri (MS) Bold"/>
              </a:rPr>
              <a:t>Adaptive Entropy-Based Aggregation Algorithms</a:t>
            </a:r>
          </a:p>
          <a:p>
            <a:pPr algn="l" marL="1036320" indent="-518160" lvl="1">
              <a:lnSpc>
                <a:spcPts val="5759"/>
              </a:lnSpc>
              <a:buFont typeface="Arial"/>
              <a:buChar char="•"/>
            </a:pPr>
            <a:r>
              <a:rPr lang="en-US" b="true" sz="4800">
                <a:solidFill>
                  <a:srgbClr val="000000"/>
                </a:solidFill>
                <a:latin typeface="Calibri (MS) Bold"/>
                <a:ea typeface="Calibri (MS) Bold"/>
                <a:cs typeface="Calibri (MS) Bold"/>
                <a:sym typeface="Calibri (MS) Bold"/>
              </a:rPr>
              <a:t>Personalized Federated Fine-Tuning</a:t>
            </a:r>
          </a:p>
          <a:p>
            <a:pPr algn="l" marL="1036320" indent="-518160" lvl="1">
              <a:lnSpc>
                <a:spcPts val="5759"/>
              </a:lnSpc>
              <a:buFont typeface="Arial"/>
              <a:buChar char="•"/>
            </a:pPr>
            <a:r>
              <a:rPr lang="en-US" b="true" sz="4800">
                <a:solidFill>
                  <a:srgbClr val="000000"/>
                </a:solidFill>
                <a:latin typeface="Calibri (MS) Bold"/>
                <a:ea typeface="Calibri (MS) Bold"/>
                <a:cs typeface="Calibri (MS) Bold"/>
                <a:sym typeface="Calibri (MS) Bold"/>
              </a:rPr>
              <a:t>Scalable Federated Learning for Large Language Models</a:t>
            </a:r>
          </a:p>
          <a:p>
            <a:pPr algn="l">
              <a:lnSpc>
                <a:spcPts val="575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922669"/>
            <a:ext cx="18288000" cy="345281"/>
            <a:chOff x="0" y="0"/>
            <a:chExt cx="24384000" cy="460375"/>
          </a:xfrm>
        </p:grpSpPr>
        <p:sp>
          <p:nvSpPr>
            <p:cNvPr name="Freeform 3" id="3"/>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4" id="4"/>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5" id="5"/>
          <p:cNvGrpSpPr/>
          <p:nvPr/>
        </p:nvGrpSpPr>
        <p:grpSpPr>
          <a:xfrm rot="0">
            <a:off x="530209" y="262014"/>
            <a:ext cx="1700212" cy="1800225"/>
            <a:chOff x="0" y="0"/>
            <a:chExt cx="2266950" cy="2400300"/>
          </a:xfrm>
        </p:grpSpPr>
        <p:sp>
          <p:nvSpPr>
            <p:cNvPr name="Freeform 6" id="6"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7" id="7"/>
          <p:cNvSpPr txBox="true"/>
          <p:nvPr/>
        </p:nvSpPr>
        <p:spPr>
          <a:xfrm rot="0">
            <a:off x="7277433" y="3579076"/>
            <a:ext cx="3946827" cy="1709052"/>
          </a:xfrm>
          <a:prstGeom prst="rect">
            <a:avLst/>
          </a:prstGeom>
        </p:spPr>
        <p:txBody>
          <a:bodyPr anchor="t" rtlCol="false" tIns="0" lIns="0" bIns="0" rIns="0">
            <a:spAutoFit/>
          </a:bodyPr>
          <a:lstStyle/>
          <a:p>
            <a:pPr algn="l">
              <a:lnSpc>
                <a:spcPts val="12960"/>
              </a:lnSpc>
            </a:pPr>
            <a:r>
              <a:rPr lang="en-US" sz="10800" b="true">
                <a:solidFill>
                  <a:srgbClr val="C00000"/>
                </a:solidFill>
                <a:latin typeface="Aptos Bold"/>
                <a:ea typeface="Aptos Bold"/>
                <a:cs typeface="Aptos Bold"/>
                <a:sym typeface="Aptos Bold"/>
              </a:rPr>
              <a:t>Q &amp; A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922669"/>
            <a:ext cx="18288000" cy="345281"/>
            <a:chOff x="0" y="0"/>
            <a:chExt cx="24384000" cy="460375"/>
          </a:xfrm>
        </p:grpSpPr>
        <p:sp>
          <p:nvSpPr>
            <p:cNvPr name="Freeform 3" id="3"/>
            <p:cNvSpPr/>
            <p:nvPr/>
          </p:nvSpPr>
          <p:spPr>
            <a:xfrm flipH="false" flipV="false" rot="0">
              <a:off x="0" y="0"/>
              <a:ext cx="24384000" cy="460375"/>
            </a:xfrm>
            <a:custGeom>
              <a:avLst/>
              <a:gdLst/>
              <a:ahLst/>
              <a:cxnLst/>
              <a:rect r="r" b="b" t="t" l="l"/>
              <a:pathLst>
                <a:path h="460375" w="24384000">
                  <a:moveTo>
                    <a:pt x="0" y="0"/>
                  </a:moveTo>
                  <a:lnTo>
                    <a:pt x="24384000" y="0"/>
                  </a:lnTo>
                  <a:lnTo>
                    <a:pt x="24384000" y="460375"/>
                  </a:lnTo>
                  <a:lnTo>
                    <a:pt x="0" y="460375"/>
                  </a:lnTo>
                  <a:close/>
                </a:path>
              </a:pathLst>
            </a:custGeom>
            <a:solidFill>
              <a:srgbClr val="C00000"/>
            </a:solidFill>
          </p:spPr>
        </p:sp>
        <p:sp>
          <p:nvSpPr>
            <p:cNvPr name="TextBox 4" id="4"/>
            <p:cNvSpPr txBox="true"/>
            <p:nvPr/>
          </p:nvSpPr>
          <p:spPr>
            <a:xfrm>
              <a:off x="0" y="-38100"/>
              <a:ext cx="24384000" cy="498475"/>
            </a:xfrm>
            <a:prstGeom prst="rect">
              <a:avLst/>
            </a:prstGeom>
          </p:spPr>
          <p:txBody>
            <a:bodyPr anchor="ctr" rtlCol="false" tIns="50800" lIns="50800" bIns="50800" rIns="50800"/>
            <a:lstStyle/>
            <a:p>
              <a:pPr algn="l">
                <a:lnSpc>
                  <a:spcPts val="2160"/>
                </a:lnSpc>
              </a:pPr>
              <a:r>
                <a:rPr lang="en-US" sz="1800" b="true">
                  <a:solidFill>
                    <a:srgbClr val="FFFFFF"/>
                  </a:solidFill>
                  <a:latin typeface="Calibri (MS) Bold"/>
                  <a:ea typeface="Calibri (MS) Bold"/>
                  <a:cs typeface="Calibri (MS) Bold"/>
                  <a:sym typeface="Calibri (MS) Bold"/>
                </a:rPr>
                <a:t>SKIT, JAIPUR										                                              www.skit.ac.in</a:t>
              </a:r>
            </a:p>
          </p:txBody>
        </p:sp>
      </p:grpSp>
      <p:grpSp>
        <p:nvGrpSpPr>
          <p:cNvPr name="Group 5" id="5"/>
          <p:cNvGrpSpPr/>
          <p:nvPr/>
        </p:nvGrpSpPr>
        <p:grpSpPr>
          <a:xfrm rot="0">
            <a:off x="530209" y="262014"/>
            <a:ext cx="1700212" cy="1800225"/>
            <a:chOff x="0" y="0"/>
            <a:chExt cx="2266950" cy="2400300"/>
          </a:xfrm>
        </p:grpSpPr>
        <p:sp>
          <p:nvSpPr>
            <p:cNvPr name="Freeform 6" id="6" descr="https://www.skit.ac.in/images/headers/skit_logo.png"/>
            <p:cNvSpPr/>
            <p:nvPr/>
          </p:nvSpPr>
          <p:spPr>
            <a:xfrm flipH="false" flipV="false" rot="0">
              <a:off x="0" y="0"/>
              <a:ext cx="2266950" cy="2400300"/>
            </a:xfrm>
            <a:custGeom>
              <a:avLst/>
              <a:gdLst/>
              <a:ahLst/>
              <a:cxnLst/>
              <a:rect r="r" b="b" t="t" l="l"/>
              <a:pathLst>
                <a:path h="2400300" w="2266950">
                  <a:moveTo>
                    <a:pt x="0" y="0"/>
                  </a:moveTo>
                  <a:lnTo>
                    <a:pt x="2266950" y="0"/>
                  </a:lnTo>
                  <a:lnTo>
                    <a:pt x="2266950" y="2400300"/>
                  </a:lnTo>
                  <a:lnTo>
                    <a:pt x="0" y="2400300"/>
                  </a:lnTo>
                  <a:lnTo>
                    <a:pt x="0" y="0"/>
                  </a:lnTo>
                  <a:close/>
                </a:path>
              </a:pathLst>
            </a:custGeom>
            <a:blipFill>
              <a:blip r:embed="rId2"/>
              <a:stretch>
                <a:fillRect l="0" t="0" r="0" b="0"/>
              </a:stretch>
            </a:blipFill>
          </p:spPr>
        </p:sp>
      </p:grpSp>
      <p:sp>
        <p:nvSpPr>
          <p:cNvPr name="TextBox 7" id="7"/>
          <p:cNvSpPr txBox="true"/>
          <p:nvPr/>
        </p:nvSpPr>
        <p:spPr>
          <a:xfrm rot="0">
            <a:off x="6084732" y="3519449"/>
            <a:ext cx="6734756" cy="1709052"/>
          </a:xfrm>
          <a:prstGeom prst="rect">
            <a:avLst/>
          </a:prstGeom>
        </p:spPr>
        <p:txBody>
          <a:bodyPr anchor="t" rtlCol="false" tIns="0" lIns="0" bIns="0" rIns="0">
            <a:spAutoFit/>
          </a:bodyPr>
          <a:lstStyle/>
          <a:p>
            <a:pPr algn="l">
              <a:lnSpc>
                <a:spcPts val="12960"/>
              </a:lnSpc>
            </a:pPr>
            <a:r>
              <a:rPr lang="en-US" sz="10800" b="true">
                <a:solidFill>
                  <a:srgbClr val="C00000"/>
                </a:solidFill>
                <a:latin typeface="Aptos Bold"/>
                <a:ea typeface="Aptos Bold"/>
                <a:cs typeface="Aptos Bold"/>
                <a:sym typeface="Apto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DAHPgT7SEdM</dc:identifier>
  <dcterms:modified xsi:type="dcterms:W3CDTF">2011-08-01T06:04:30Z</dcterms:modified>
  <cp:revision>1</cp:revision>
  <dc:title>Sample_PPT.pptx</dc:title>
</cp:coreProperties>
</file>